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68B1E"/>
          </a:solidFill>
          <a:ln/>
        </p:spPr>
      </p:sp>
      <p:sp>
        <p:nvSpPr>
          <p:cNvPr id="3" name="Text 1"/>
          <p:cNvSpPr/>
          <p:nvPr/>
        </p:nvSpPr>
        <p:spPr>
          <a:xfrm>
            <a:off x="822960" y="1965960"/>
            <a:ext cx="7315200" cy="365760"/>
          </a:xfrm>
          <a:prstGeom prst="rect">
            <a:avLst/>
          </a:prstGeom>
          <a:noFill/>
          <a:ln/>
        </p:spPr>
        <p:txBody>
          <a:bodyPr wrap="square" rtlCol="0" anchor="ctr"/>
          <a:lstStyle/>
          <a:p>
            <a:pPr indent="0" marL="0">
              <a:buNone/>
            </a:pPr>
            <a:r>
              <a:rPr lang="en-US" sz="1400" b="1" spc="300" kern="0" dirty="0">
                <a:solidFill>
                  <a:srgbClr val="F68B1E"/>
                </a:solidFill>
                <a:latin typeface="Calibri" pitchFamily="34" charset="0"/>
                <a:ea typeface="Calibri" pitchFamily="34" charset="-122"/>
                <a:cs typeface="Calibri" pitchFamily="34" charset="-120"/>
              </a:rPr>
              <a:t>POWER BI CASE STUDY</a:t>
            </a:r>
            <a:endParaRPr lang="en-US" sz="1400" dirty="0"/>
          </a:p>
        </p:txBody>
      </p:sp>
      <p:sp>
        <p:nvSpPr>
          <p:cNvPr id="4" name="Text 2"/>
          <p:cNvSpPr/>
          <p:nvPr/>
        </p:nvSpPr>
        <p:spPr>
          <a:xfrm>
            <a:off x="822960" y="2377440"/>
            <a:ext cx="1033272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Jumia Performance Dashboard</a:t>
            </a:r>
            <a:endParaRPr lang="en-US" sz="4000" dirty="0"/>
          </a:p>
        </p:txBody>
      </p:sp>
      <p:sp>
        <p:nvSpPr>
          <p:cNvPr id="5" name="Text 3"/>
          <p:cNvSpPr/>
          <p:nvPr/>
        </p:nvSpPr>
        <p:spPr>
          <a:xfrm>
            <a:off x="822960" y="3337560"/>
            <a:ext cx="10332720" cy="457200"/>
          </a:xfrm>
          <a:prstGeom prst="rect">
            <a:avLst/>
          </a:prstGeom>
          <a:noFill/>
          <a:ln/>
        </p:spPr>
        <p:txBody>
          <a:bodyPr wrap="square" rtlCol="0" anchor="ctr"/>
          <a:lstStyle/>
          <a:p>
            <a:pPr indent="0" marL="0">
              <a:buNone/>
            </a:pPr>
            <a:r>
              <a:rPr lang="en-US" sz="1600" dirty="0">
                <a:solidFill>
                  <a:srgbClr val="CFCFCF"/>
                </a:solidFill>
                <a:latin typeface="Calibri" pitchFamily="34" charset="0"/>
                <a:ea typeface="Calibri" pitchFamily="34" charset="-122"/>
                <a:cs typeface="Calibri" pitchFamily="34" charset="-120"/>
              </a:rPr>
              <a:t>Comprehensive E-commerce Analysis  •  Sales, Profitability &amp; Regional Performance</a:t>
            </a:r>
            <a:endParaRPr lang="en-US" sz="1600" dirty="0"/>
          </a:p>
        </p:txBody>
      </p:sp>
      <p:sp>
        <p:nvSpPr>
          <p:cNvPr id="6" name="Shape 4"/>
          <p:cNvSpPr/>
          <p:nvPr/>
        </p:nvSpPr>
        <p:spPr>
          <a:xfrm>
            <a:off x="822960" y="3977640"/>
            <a:ext cx="2743200" cy="0"/>
          </a:xfrm>
          <a:prstGeom prst="line">
            <a:avLst/>
          </a:prstGeom>
          <a:noFill/>
          <a:ln w="25400">
            <a:solidFill>
              <a:srgbClr val="F68B1E"/>
            </a:solidFill>
            <a:prstDash val="solid"/>
          </a:ln>
        </p:spPr>
      </p:sp>
      <p:sp>
        <p:nvSpPr>
          <p:cNvPr id="7" name="Text 5"/>
          <p:cNvSpPr/>
          <p:nvPr/>
        </p:nvSpPr>
        <p:spPr>
          <a:xfrm>
            <a:off x="822960" y="4251960"/>
            <a:ext cx="8229600" cy="1188720"/>
          </a:xfrm>
          <a:prstGeom prst="rect">
            <a:avLst/>
          </a:prstGeom>
          <a:noFill/>
          <a:ln/>
        </p:spPr>
        <p:txBody>
          <a:bodyPr wrap="square" rtlCol="0" anchor="ctr"/>
          <a:lstStyle/>
          <a:p>
            <a:pPr indent="0" marL="0">
              <a:lnSpc>
                <a:spcPct val="150000"/>
              </a:lnSpc>
              <a:buNone/>
            </a:pPr>
            <a:r>
              <a:rPr lang="en-US" sz="1300" dirty="0">
                <a:solidFill>
                  <a:srgbClr val="9A9A9A"/>
                </a:solidFill>
                <a:latin typeface="Calibri" pitchFamily="34" charset="0"/>
                <a:ea typeface="Calibri" pitchFamily="34" charset="-122"/>
                <a:cs typeface="Calibri" pitchFamily="34" charset="-120"/>
              </a:rPr>
              <a:t>Prepared by: </a:t>
            </a:r>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Sameh Sabry El-Hosary
</a:t>
            </a:r>
            <a:pPr indent="0" marL="0">
              <a:lnSpc>
                <a:spcPct val="150000"/>
              </a:lnSpc>
              <a:buNone/>
            </a:pPr>
            <a:r>
              <a:rPr lang="en-US" sz="1300" dirty="0">
                <a:solidFill>
                  <a:srgbClr val="9A9A9A"/>
                </a:solidFill>
                <a:latin typeface="Calibri" pitchFamily="34" charset="0"/>
                <a:ea typeface="Calibri" pitchFamily="34" charset="-122"/>
                <a:cs typeface="Calibri" pitchFamily="34" charset="-120"/>
              </a:rPr>
              <a:t>Role: </a:t>
            </a:r>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Data Analyst | Business Intelligence Analyst
</a:t>
            </a:r>
            <a:pPr indent="0" marL="0">
              <a:lnSpc>
                <a:spcPct val="150000"/>
              </a:lnSpc>
              <a:buNone/>
            </a:pPr>
            <a:r>
              <a:rPr lang="en-US" sz="1300" dirty="0">
                <a:solidFill>
                  <a:srgbClr val="9A9A9A"/>
                </a:solidFill>
                <a:latin typeface="Calibri" pitchFamily="34" charset="0"/>
                <a:ea typeface="Calibri" pitchFamily="34" charset="-122"/>
                <a:cs typeface="Calibri" pitchFamily="34" charset="-120"/>
              </a:rPr>
              <a:t>Tool: </a:t>
            </a:r>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Microsoft Power BI (Data Modeling, Power Query, DAX)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457200"/>
          </a:xfrm>
          <a:prstGeom prst="rect">
            <a:avLst/>
          </a:prstGeom>
          <a:noFill/>
          <a:ln/>
        </p:spPr>
        <p:txBody>
          <a:bodyPr wrap="square" rtlCol="0" anchor="ctr"/>
          <a:lstStyle/>
          <a:p>
            <a:pPr algn="r" indent="0" marL="0">
              <a:buNone/>
            </a:pPr>
            <a:r>
              <a:rPr lang="en-US" sz="2400" b="1" dirty="0">
                <a:solidFill>
                  <a:srgbClr val="1A1A1A"/>
                </a:solidFill>
                <a:latin typeface="Cambria" pitchFamily="34" charset="0"/>
                <a:ea typeface="Cambria" pitchFamily="34" charset="-122"/>
                <a:cs typeface="Cambria" pitchFamily="34" charset="-120"/>
              </a:rPr>
              <a:t>معاينة الداشبورد</a:t>
            </a:r>
            <a:endParaRPr lang="en-US" sz="2400" dirty="0"/>
          </a:p>
        </p:txBody>
      </p:sp>
      <p:sp>
        <p:nvSpPr>
          <p:cNvPr id="3" name="Text 1"/>
          <p:cNvSpPr/>
          <p:nvPr/>
        </p:nvSpPr>
        <p:spPr>
          <a:xfrm>
            <a:off x="640080" y="777240"/>
            <a:ext cx="7315200" cy="320040"/>
          </a:xfrm>
          <a:prstGeom prst="rect">
            <a:avLst/>
          </a:prstGeom>
          <a:noFill/>
          <a:ln/>
        </p:spPr>
        <p:txBody>
          <a:bodyPr wrap="square" rtlCol="0" anchor="ctr"/>
          <a:lstStyle/>
          <a:p>
            <a:pPr algn="r" indent="0" marL="0">
              <a:buNone/>
            </a:pPr>
            <a:r>
              <a:rPr lang="en-US" sz="1200" dirty="0">
                <a:solidFill>
                  <a:srgbClr val="5A5A5A"/>
                </a:solidFill>
                <a:latin typeface="Calibri" pitchFamily="34" charset="0"/>
                <a:ea typeface="Calibri" pitchFamily="34" charset="-122"/>
                <a:cs typeface="Calibri" pitchFamily="34" charset="-120"/>
              </a:rPr>
              <a:t>Dashboard Preview</a:t>
            </a:r>
            <a:endParaRPr lang="en-US" sz="1200" dirty="0"/>
          </a:p>
        </p:txBody>
      </p:sp>
      <p:sp>
        <p:nvSpPr>
          <p:cNvPr id="4" name="Shape 2"/>
          <p:cNvSpPr/>
          <p:nvPr/>
        </p:nvSpPr>
        <p:spPr>
          <a:xfrm>
            <a:off x="402336" y="1179576"/>
            <a:ext cx="11384280" cy="5687033"/>
          </a:xfrm>
          <a:prstGeom prst="roundRect">
            <a:avLst>
              <a:gd name="adj" fmla="val 965"/>
            </a:avLst>
          </a:prstGeom>
          <a:solidFill>
            <a:srgbClr val="F7F7F7"/>
          </a:solidFill>
          <a:ln w="12700">
            <a:solidFill>
              <a:srgbClr val="E0E0E0"/>
            </a:solidFill>
            <a:prstDash val="solid"/>
          </a:ln>
        </p:spPr>
      </p:sp>
      <p:pic>
        <p:nvPicPr>
          <p:cNvPr id="5" name="Image 0" descr="/mnt/user-data/uploads/1784318832068_image.png">    </p:cNvPr>
          <p:cNvPicPr>
            <a:picLocks noChangeAspect="1"/>
          </p:cNvPicPr>
          <p:nvPr/>
        </p:nvPicPr>
        <p:blipFill>
          <a:blip r:embed="rId1"/>
          <a:stretch>
            <a:fillRect/>
          </a:stretch>
        </p:blipFill>
        <p:spPr>
          <a:xfrm>
            <a:off x="457200" y="1234440"/>
            <a:ext cx="11274552" cy="5577305"/>
          </a:xfrm>
          <a:prstGeom prst="rect">
            <a:avLst/>
          </a:prstGeom>
        </p:spPr>
      </p:pic>
      <p:sp>
        <p:nvSpPr>
          <p:cNvPr id="6" name="Text 3"/>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800" b="1" dirty="0">
                <a:solidFill>
                  <a:srgbClr val="1A1A1A"/>
                </a:solidFill>
                <a:latin typeface="Cambria" pitchFamily="34" charset="0"/>
                <a:ea typeface="Cambria" pitchFamily="34" charset="-122"/>
                <a:cs typeface="Cambria" pitchFamily="34" charset="-120"/>
              </a:rPr>
              <a:t>نظرة عامة على المشروع</a:t>
            </a:r>
            <a:endParaRPr lang="en-US" sz="2800" dirty="0"/>
          </a:p>
        </p:txBody>
      </p:sp>
      <p:sp>
        <p:nvSpPr>
          <p:cNvPr id="3" name="Text 1"/>
          <p:cNvSpPr/>
          <p:nvPr/>
        </p:nvSpPr>
        <p:spPr>
          <a:xfrm>
            <a:off x="640080" y="960120"/>
            <a:ext cx="10881360" cy="365760"/>
          </a:xfrm>
          <a:prstGeom prst="rect">
            <a:avLst/>
          </a:prstGeom>
          <a:noFill/>
          <a:ln/>
        </p:spPr>
        <p:txBody>
          <a:bodyPr wrap="square" rtlCol="0" anchor="ctr"/>
          <a:lstStyle/>
          <a:p>
            <a:pPr algn="r" indent="0" marL="0">
              <a:buNone/>
            </a:pPr>
            <a:r>
              <a:rPr lang="en-US" sz="1300" dirty="0">
                <a:solidFill>
                  <a:srgbClr val="5A5A5A"/>
                </a:solidFill>
                <a:latin typeface="Calibri" pitchFamily="34" charset="0"/>
                <a:ea typeface="Calibri" pitchFamily="34" charset="-122"/>
                <a:cs typeface="Calibri" pitchFamily="34" charset="-120"/>
              </a:rPr>
              <a:t>Project Overview</a:t>
            </a:r>
            <a:endParaRPr lang="en-US" sz="1300" dirty="0"/>
          </a:p>
        </p:txBody>
      </p:sp>
      <p:sp>
        <p:nvSpPr>
          <p:cNvPr id="4" name="Shape 2"/>
          <p:cNvSpPr/>
          <p:nvPr/>
        </p:nvSpPr>
        <p:spPr>
          <a:xfrm>
            <a:off x="640080" y="1508760"/>
            <a:ext cx="10881360" cy="1143000"/>
          </a:xfrm>
          <a:prstGeom prst="roundRect">
            <a:avLst>
              <a:gd name="adj" fmla="val 6400"/>
            </a:avLst>
          </a:prstGeom>
          <a:solidFill>
            <a:srgbClr val="F7F7F7"/>
          </a:solidFill>
          <a:ln w="12700">
            <a:solidFill>
              <a:srgbClr val="E5E5E5"/>
            </a:solidFill>
            <a:prstDash val="solid"/>
          </a:ln>
        </p:spPr>
      </p:sp>
      <p:sp>
        <p:nvSpPr>
          <p:cNvPr id="5" name="Shape 3"/>
          <p:cNvSpPr/>
          <p:nvPr/>
        </p:nvSpPr>
        <p:spPr>
          <a:xfrm>
            <a:off x="640080" y="1508760"/>
            <a:ext cx="82296" cy="1143000"/>
          </a:xfrm>
          <a:prstGeom prst="rect">
            <a:avLst/>
          </a:prstGeom>
          <a:solidFill>
            <a:srgbClr val="F68B1E"/>
          </a:solidFill>
          <a:ln/>
        </p:spPr>
      </p:sp>
      <p:sp>
        <p:nvSpPr>
          <p:cNvPr id="6" name="Text 4"/>
          <p:cNvSpPr/>
          <p:nvPr/>
        </p:nvSpPr>
        <p:spPr>
          <a:xfrm>
            <a:off x="914400" y="1600200"/>
            <a:ext cx="10424160" cy="320040"/>
          </a:xfrm>
          <a:prstGeom prst="rect">
            <a:avLst/>
          </a:prstGeom>
          <a:noFill/>
          <a:ln/>
        </p:spPr>
        <p:txBody>
          <a:bodyPr wrap="square"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الهدف   </a:t>
            </a:r>
            <a:pPr algn="r" indent="0" marL="0">
              <a:buNone/>
            </a:pPr>
            <a:r>
              <a:rPr lang="en-US" sz="1100" i="1" dirty="0">
                <a:solidFill>
                  <a:srgbClr val="D9720A"/>
                </a:solidFill>
                <a:latin typeface="Calibri" pitchFamily="34" charset="0"/>
                <a:ea typeface="Calibri" pitchFamily="34" charset="-122"/>
                <a:cs typeface="Calibri" pitchFamily="34" charset="-120"/>
              </a:rPr>
              <a:t>Objective</a:t>
            </a:r>
            <a:endParaRPr lang="en-US" sz="1500" dirty="0"/>
          </a:p>
        </p:txBody>
      </p:sp>
      <p:sp>
        <p:nvSpPr>
          <p:cNvPr id="7" name="Text 5"/>
          <p:cNvSpPr/>
          <p:nvPr/>
        </p:nvSpPr>
        <p:spPr>
          <a:xfrm>
            <a:off x="914400" y="1920240"/>
            <a:ext cx="10424160" cy="685800"/>
          </a:xfrm>
          <a:prstGeom prst="rect">
            <a:avLst/>
          </a:prstGeom>
          <a:noFill/>
          <a:ln/>
        </p:spPr>
        <p:txBody>
          <a:bodyPr wrap="square" rtlCol="0" anchor="ctr"/>
          <a:lstStyle/>
          <a:p>
            <a:pPr algn="r" indent="0" marL="0">
              <a:lnSpc>
                <a:spcPct val="125000"/>
              </a:lnSpc>
              <a:buNone/>
            </a:pPr>
            <a:r>
              <a:rPr lang="en-US" sz="1250" dirty="0">
                <a:solidFill>
                  <a:srgbClr val="5A5A5A"/>
                </a:solidFill>
                <a:latin typeface="Calibri" pitchFamily="34" charset="0"/>
                <a:ea typeface="Calibri" pitchFamily="34" charset="-122"/>
                <a:cs typeface="Calibri" pitchFamily="34" charset="-120"/>
              </a:rPr>
              <a:t>بناء لوحة تحكم تفاعلية شاملة لتحليل أداء متجر إلكتروني (Jumia)، تغطي المبيعات والربحية والكمية المباعة على مستوى المنطقة والفئة والوقت.</a:t>
            </a:r>
            <a:endParaRPr lang="en-US" sz="1250" dirty="0"/>
          </a:p>
        </p:txBody>
      </p:sp>
      <p:sp>
        <p:nvSpPr>
          <p:cNvPr id="8" name="Shape 6"/>
          <p:cNvSpPr/>
          <p:nvPr/>
        </p:nvSpPr>
        <p:spPr>
          <a:xfrm>
            <a:off x="640080" y="2788920"/>
            <a:ext cx="10881360" cy="1143000"/>
          </a:xfrm>
          <a:prstGeom prst="roundRect">
            <a:avLst>
              <a:gd name="adj" fmla="val 6400"/>
            </a:avLst>
          </a:prstGeom>
          <a:solidFill>
            <a:srgbClr val="F7F7F7"/>
          </a:solidFill>
          <a:ln w="12700">
            <a:solidFill>
              <a:srgbClr val="E5E5E5"/>
            </a:solidFill>
            <a:prstDash val="solid"/>
          </a:ln>
        </p:spPr>
      </p:sp>
      <p:sp>
        <p:nvSpPr>
          <p:cNvPr id="9" name="Shape 7"/>
          <p:cNvSpPr/>
          <p:nvPr/>
        </p:nvSpPr>
        <p:spPr>
          <a:xfrm>
            <a:off x="640080" y="2788920"/>
            <a:ext cx="82296" cy="1143000"/>
          </a:xfrm>
          <a:prstGeom prst="rect">
            <a:avLst/>
          </a:prstGeom>
          <a:solidFill>
            <a:srgbClr val="F68B1E"/>
          </a:solidFill>
          <a:ln/>
        </p:spPr>
      </p:sp>
      <p:sp>
        <p:nvSpPr>
          <p:cNvPr id="10" name="Text 8"/>
          <p:cNvSpPr/>
          <p:nvPr/>
        </p:nvSpPr>
        <p:spPr>
          <a:xfrm>
            <a:off x="914400" y="2880360"/>
            <a:ext cx="10424160" cy="320040"/>
          </a:xfrm>
          <a:prstGeom prst="rect">
            <a:avLst/>
          </a:prstGeom>
          <a:noFill/>
          <a:ln/>
        </p:spPr>
        <p:txBody>
          <a:bodyPr wrap="square"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مصدر البيانات   </a:t>
            </a:r>
            <a:pPr algn="r" indent="0" marL="0">
              <a:buNone/>
            </a:pPr>
            <a:r>
              <a:rPr lang="en-US" sz="1100" i="1" dirty="0">
                <a:solidFill>
                  <a:srgbClr val="D9720A"/>
                </a:solidFill>
                <a:latin typeface="Calibri" pitchFamily="34" charset="0"/>
                <a:ea typeface="Calibri" pitchFamily="34" charset="-122"/>
                <a:cs typeface="Calibri" pitchFamily="34" charset="-120"/>
              </a:rPr>
              <a:t>Data Source</a:t>
            </a:r>
            <a:endParaRPr lang="en-US" sz="1500" dirty="0"/>
          </a:p>
        </p:txBody>
      </p:sp>
      <p:sp>
        <p:nvSpPr>
          <p:cNvPr id="11" name="Text 9"/>
          <p:cNvSpPr/>
          <p:nvPr/>
        </p:nvSpPr>
        <p:spPr>
          <a:xfrm>
            <a:off x="914400" y="3200400"/>
            <a:ext cx="10424160" cy="685800"/>
          </a:xfrm>
          <a:prstGeom prst="rect">
            <a:avLst/>
          </a:prstGeom>
          <a:noFill/>
          <a:ln/>
        </p:spPr>
        <p:txBody>
          <a:bodyPr wrap="square" rtlCol="0" anchor="ctr"/>
          <a:lstStyle/>
          <a:p>
            <a:pPr algn="r" indent="0" marL="0">
              <a:lnSpc>
                <a:spcPct val="125000"/>
              </a:lnSpc>
              <a:buNone/>
            </a:pPr>
            <a:r>
              <a:rPr lang="en-US" sz="1250" dirty="0">
                <a:solidFill>
                  <a:srgbClr val="5A5A5A"/>
                </a:solidFill>
                <a:latin typeface="Calibri" pitchFamily="34" charset="0"/>
                <a:ea typeface="Calibri" pitchFamily="34" charset="-122"/>
                <a:cs typeface="Calibri" pitchFamily="34" charset="-120"/>
              </a:rPr>
              <a:t>بيانات معاملات بيع تفصيلية تغطي الفترة من يناير 2011 حتى ديسمبر 2014، تشمل الطلبات، الفئات، المناطق الجغرافية، والقطاعات (Segments).</a:t>
            </a:r>
            <a:endParaRPr lang="en-US" sz="1250" dirty="0"/>
          </a:p>
        </p:txBody>
      </p:sp>
      <p:sp>
        <p:nvSpPr>
          <p:cNvPr id="12" name="Shape 10"/>
          <p:cNvSpPr/>
          <p:nvPr/>
        </p:nvSpPr>
        <p:spPr>
          <a:xfrm>
            <a:off x="640080" y="4069080"/>
            <a:ext cx="10881360" cy="1143000"/>
          </a:xfrm>
          <a:prstGeom prst="roundRect">
            <a:avLst>
              <a:gd name="adj" fmla="val 6400"/>
            </a:avLst>
          </a:prstGeom>
          <a:solidFill>
            <a:srgbClr val="F7F7F7"/>
          </a:solidFill>
          <a:ln w="12700">
            <a:solidFill>
              <a:srgbClr val="E5E5E5"/>
            </a:solidFill>
            <a:prstDash val="solid"/>
          </a:ln>
        </p:spPr>
      </p:sp>
      <p:sp>
        <p:nvSpPr>
          <p:cNvPr id="13" name="Shape 11"/>
          <p:cNvSpPr/>
          <p:nvPr/>
        </p:nvSpPr>
        <p:spPr>
          <a:xfrm>
            <a:off x="640080" y="4069080"/>
            <a:ext cx="82296" cy="1143000"/>
          </a:xfrm>
          <a:prstGeom prst="rect">
            <a:avLst/>
          </a:prstGeom>
          <a:solidFill>
            <a:srgbClr val="F68B1E"/>
          </a:solidFill>
          <a:ln/>
        </p:spPr>
      </p:sp>
      <p:sp>
        <p:nvSpPr>
          <p:cNvPr id="14" name="Text 12"/>
          <p:cNvSpPr/>
          <p:nvPr/>
        </p:nvSpPr>
        <p:spPr>
          <a:xfrm>
            <a:off x="914400" y="4160520"/>
            <a:ext cx="10424160" cy="320040"/>
          </a:xfrm>
          <a:prstGeom prst="rect">
            <a:avLst/>
          </a:prstGeom>
          <a:noFill/>
          <a:ln/>
        </p:spPr>
        <p:txBody>
          <a:bodyPr wrap="square"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الفلاتر التفاعلية   </a:t>
            </a:r>
            <a:pPr algn="r" indent="0" marL="0">
              <a:buNone/>
            </a:pPr>
            <a:r>
              <a:rPr lang="en-US" sz="1100" i="1" dirty="0">
                <a:solidFill>
                  <a:srgbClr val="D9720A"/>
                </a:solidFill>
                <a:latin typeface="Calibri" pitchFamily="34" charset="0"/>
                <a:ea typeface="Calibri" pitchFamily="34" charset="-122"/>
                <a:cs typeface="Calibri" pitchFamily="34" charset="-120"/>
              </a:rPr>
              <a:t>Interactive Filters</a:t>
            </a:r>
            <a:endParaRPr lang="en-US" sz="1500" dirty="0"/>
          </a:p>
        </p:txBody>
      </p:sp>
      <p:sp>
        <p:nvSpPr>
          <p:cNvPr id="15" name="Text 13"/>
          <p:cNvSpPr/>
          <p:nvPr/>
        </p:nvSpPr>
        <p:spPr>
          <a:xfrm>
            <a:off x="914400" y="4480560"/>
            <a:ext cx="10424160" cy="685800"/>
          </a:xfrm>
          <a:prstGeom prst="rect">
            <a:avLst/>
          </a:prstGeom>
          <a:noFill/>
          <a:ln/>
        </p:spPr>
        <p:txBody>
          <a:bodyPr wrap="square" rtlCol="0" anchor="ctr"/>
          <a:lstStyle/>
          <a:p>
            <a:pPr algn="r" indent="0" marL="0">
              <a:lnSpc>
                <a:spcPct val="125000"/>
              </a:lnSpc>
              <a:buNone/>
            </a:pPr>
            <a:r>
              <a:rPr lang="en-US" sz="1250" dirty="0">
                <a:solidFill>
                  <a:srgbClr val="5A5A5A"/>
                </a:solidFill>
                <a:latin typeface="Calibri" pitchFamily="34" charset="0"/>
                <a:ea typeface="Calibri" pitchFamily="34" charset="-122"/>
                <a:cs typeface="Calibri" pitchFamily="34" charset="-120"/>
              </a:rPr>
              <a:t>Year، Category، Region، Segment، City، بالإضافة إلى فلتر نطاق تاريخ (Date Range) في أعلى الصفحة، لتمكين المستخدم من تخصيص العرض حسب احتياجه.</a:t>
            </a:r>
            <a:endParaRPr lang="en-US" sz="1250" dirty="0"/>
          </a:p>
        </p:txBody>
      </p:sp>
      <p:sp>
        <p:nvSpPr>
          <p:cNvPr id="16" name="Shape 14"/>
          <p:cNvSpPr/>
          <p:nvPr/>
        </p:nvSpPr>
        <p:spPr>
          <a:xfrm>
            <a:off x="640080" y="5349240"/>
            <a:ext cx="10881360" cy="1143000"/>
          </a:xfrm>
          <a:prstGeom prst="roundRect">
            <a:avLst>
              <a:gd name="adj" fmla="val 6400"/>
            </a:avLst>
          </a:prstGeom>
          <a:solidFill>
            <a:srgbClr val="F7F7F7"/>
          </a:solidFill>
          <a:ln w="12700">
            <a:solidFill>
              <a:srgbClr val="E5E5E5"/>
            </a:solidFill>
            <a:prstDash val="solid"/>
          </a:ln>
        </p:spPr>
      </p:sp>
      <p:sp>
        <p:nvSpPr>
          <p:cNvPr id="17" name="Shape 15"/>
          <p:cNvSpPr/>
          <p:nvPr/>
        </p:nvSpPr>
        <p:spPr>
          <a:xfrm>
            <a:off x="640080" y="5349240"/>
            <a:ext cx="82296" cy="1143000"/>
          </a:xfrm>
          <a:prstGeom prst="rect">
            <a:avLst/>
          </a:prstGeom>
          <a:solidFill>
            <a:srgbClr val="F68B1E"/>
          </a:solidFill>
          <a:ln/>
        </p:spPr>
      </p:sp>
      <p:sp>
        <p:nvSpPr>
          <p:cNvPr id="18" name="Text 16"/>
          <p:cNvSpPr/>
          <p:nvPr/>
        </p:nvSpPr>
        <p:spPr>
          <a:xfrm>
            <a:off x="914400" y="5440680"/>
            <a:ext cx="10424160" cy="320040"/>
          </a:xfrm>
          <a:prstGeom prst="rect">
            <a:avLst/>
          </a:prstGeom>
          <a:noFill/>
          <a:ln/>
        </p:spPr>
        <p:txBody>
          <a:bodyPr wrap="square"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نطاق التحليل   </a:t>
            </a:r>
            <a:pPr algn="r" indent="0" marL="0">
              <a:buNone/>
            </a:pPr>
            <a:r>
              <a:rPr lang="en-US" sz="1100" i="1" dirty="0">
                <a:solidFill>
                  <a:srgbClr val="D9720A"/>
                </a:solidFill>
                <a:latin typeface="Calibri" pitchFamily="34" charset="0"/>
                <a:ea typeface="Calibri" pitchFamily="34" charset="-122"/>
                <a:cs typeface="Calibri" pitchFamily="34" charset="-120"/>
              </a:rPr>
              <a:t>Scope</a:t>
            </a:r>
            <a:endParaRPr lang="en-US" sz="1500" dirty="0"/>
          </a:p>
        </p:txBody>
      </p:sp>
      <p:sp>
        <p:nvSpPr>
          <p:cNvPr id="19" name="Text 17"/>
          <p:cNvSpPr/>
          <p:nvPr/>
        </p:nvSpPr>
        <p:spPr>
          <a:xfrm>
            <a:off x="914400" y="5760720"/>
            <a:ext cx="10424160" cy="685800"/>
          </a:xfrm>
          <a:prstGeom prst="rect">
            <a:avLst/>
          </a:prstGeom>
          <a:noFill/>
          <a:ln/>
        </p:spPr>
        <p:txBody>
          <a:bodyPr wrap="square" rtlCol="0" anchor="ctr"/>
          <a:lstStyle/>
          <a:p>
            <a:pPr algn="r" indent="0" marL="0">
              <a:lnSpc>
                <a:spcPct val="125000"/>
              </a:lnSpc>
              <a:buNone/>
            </a:pPr>
            <a:r>
              <a:rPr lang="en-US" sz="1250" dirty="0">
                <a:solidFill>
                  <a:srgbClr val="5A5A5A"/>
                </a:solidFill>
                <a:latin typeface="Calibri" pitchFamily="34" charset="0"/>
                <a:ea typeface="Calibri" pitchFamily="34" charset="-122"/>
                <a:cs typeface="Calibri" pitchFamily="34" charset="-120"/>
              </a:rPr>
              <a:t>5 آلاف طلب، بإجمالي مبيعات 2.30 مليون، موزعة على 4 مناطق جغرافية (Central، East، South، West) و3 فئات منتجات رئيسية.</a:t>
            </a:r>
            <a:endParaRPr lang="en-US" sz="1250" dirty="0"/>
          </a:p>
        </p:txBody>
      </p:sp>
      <p:sp>
        <p:nvSpPr>
          <p:cNvPr id="20" name="Text 18"/>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800" b="1" dirty="0">
                <a:solidFill>
                  <a:srgbClr val="1A1A1A"/>
                </a:solidFill>
                <a:latin typeface="Cambria" pitchFamily="34" charset="0"/>
                <a:ea typeface="Cambria" pitchFamily="34" charset="-122"/>
                <a:cs typeface="Cambria" pitchFamily="34" charset="-120"/>
              </a:rPr>
              <a:t>نموذج البيانات (Star Schema)</a:t>
            </a:r>
            <a:endParaRPr lang="en-US" sz="2800" dirty="0"/>
          </a:p>
        </p:txBody>
      </p:sp>
      <p:sp>
        <p:nvSpPr>
          <p:cNvPr id="3" name="Text 1"/>
          <p:cNvSpPr/>
          <p:nvPr/>
        </p:nvSpPr>
        <p:spPr>
          <a:xfrm>
            <a:off x="640080" y="960120"/>
            <a:ext cx="10881360" cy="365760"/>
          </a:xfrm>
          <a:prstGeom prst="rect">
            <a:avLst/>
          </a:prstGeom>
          <a:noFill/>
          <a:ln/>
        </p:spPr>
        <p:txBody>
          <a:bodyPr wrap="square" rtlCol="0" anchor="ctr"/>
          <a:lstStyle/>
          <a:p>
            <a:pPr algn="r" indent="0" marL="0">
              <a:buNone/>
            </a:pPr>
            <a:r>
              <a:rPr lang="en-US" sz="1300" dirty="0">
                <a:solidFill>
                  <a:srgbClr val="5A5A5A"/>
                </a:solidFill>
                <a:latin typeface="Calibri" pitchFamily="34" charset="0"/>
                <a:ea typeface="Calibri" pitchFamily="34" charset="-122"/>
                <a:cs typeface="Calibri" pitchFamily="34" charset="-120"/>
              </a:rPr>
              <a:t>Data Modeling Approach</a:t>
            </a:r>
            <a:endParaRPr lang="en-US" sz="1300" dirty="0"/>
          </a:p>
        </p:txBody>
      </p:sp>
      <p:sp>
        <p:nvSpPr>
          <p:cNvPr id="4" name="Shape 2"/>
          <p:cNvSpPr/>
          <p:nvPr/>
        </p:nvSpPr>
        <p:spPr>
          <a:xfrm>
            <a:off x="4937760" y="2743200"/>
            <a:ext cx="2286000" cy="1005840"/>
          </a:xfrm>
          <a:prstGeom prst="roundRect">
            <a:avLst>
              <a:gd name="adj" fmla="val 7273"/>
            </a:avLst>
          </a:prstGeom>
          <a:solidFill>
            <a:srgbClr val="1A1A1A"/>
          </a:solidFill>
          <a:ln/>
        </p:spPr>
      </p:sp>
      <p:sp>
        <p:nvSpPr>
          <p:cNvPr id="5" name="Text 3"/>
          <p:cNvSpPr/>
          <p:nvPr/>
        </p:nvSpPr>
        <p:spPr>
          <a:xfrm>
            <a:off x="4937760" y="2852928"/>
            <a:ext cx="2286000" cy="365760"/>
          </a:xfrm>
          <a:prstGeom prst="rect">
            <a:avLst/>
          </a:prstGeom>
          <a:noFill/>
          <a:ln/>
        </p:spPr>
        <p:txBody>
          <a:bodyPr wrap="square" rtlCol="0" anchor="ctr"/>
          <a:lstStyle/>
          <a:p>
            <a:pPr algn="ctr" indent="0" marL="0">
              <a:buNone/>
            </a:pPr>
            <a:r>
              <a:rPr lang="en-US" sz="1500" b="1" dirty="0">
                <a:solidFill>
                  <a:srgbClr val="F68B1E"/>
                </a:solidFill>
                <a:latin typeface="Calibri" pitchFamily="34" charset="0"/>
                <a:ea typeface="Calibri" pitchFamily="34" charset="-122"/>
                <a:cs typeface="Calibri" pitchFamily="34" charset="-120"/>
              </a:rPr>
              <a:t>Fact_Sales</a:t>
            </a:r>
            <a:endParaRPr lang="en-US" sz="1500" dirty="0"/>
          </a:p>
        </p:txBody>
      </p:sp>
      <p:sp>
        <p:nvSpPr>
          <p:cNvPr id="6" name="Text 4"/>
          <p:cNvSpPr/>
          <p:nvPr/>
        </p:nvSpPr>
        <p:spPr>
          <a:xfrm>
            <a:off x="4937760" y="3246120"/>
            <a:ext cx="228600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Sales • Profit • Quantity • OrderID</a:t>
            </a:r>
            <a:endParaRPr lang="en-US" sz="1000" dirty="0"/>
          </a:p>
        </p:txBody>
      </p:sp>
      <p:sp>
        <p:nvSpPr>
          <p:cNvPr id="7" name="Shape 5"/>
          <p:cNvSpPr/>
          <p:nvPr/>
        </p:nvSpPr>
        <p:spPr>
          <a:xfrm>
            <a:off x="4937760" y="777240"/>
            <a:ext cx="2148840" cy="777240"/>
          </a:xfrm>
          <a:prstGeom prst="roundRect">
            <a:avLst>
              <a:gd name="adj" fmla="val 9412"/>
            </a:avLst>
          </a:prstGeom>
          <a:solidFill>
            <a:srgbClr val="F7F7F7"/>
          </a:solidFill>
          <a:ln w="15875">
            <a:solidFill>
              <a:srgbClr val="F68B1E"/>
            </a:solidFill>
            <a:prstDash val="solid"/>
          </a:ln>
        </p:spPr>
      </p:sp>
      <p:sp>
        <p:nvSpPr>
          <p:cNvPr id="8" name="Text 6"/>
          <p:cNvSpPr/>
          <p:nvPr/>
        </p:nvSpPr>
        <p:spPr>
          <a:xfrm>
            <a:off x="4937760" y="850392"/>
            <a:ext cx="2148840" cy="320040"/>
          </a:xfrm>
          <a:prstGeom prst="rect">
            <a:avLst/>
          </a:prstGeom>
          <a:noFill/>
          <a:ln/>
        </p:spPr>
        <p:txBody>
          <a:bodyPr wrap="square"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Dim_Date</a:t>
            </a:r>
            <a:endParaRPr lang="en-US" sz="1250" dirty="0"/>
          </a:p>
        </p:txBody>
      </p:sp>
      <p:sp>
        <p:nvSpPr>
          <p:cNvPr id="9" name="Text 7"/>
          <p:cNvSpPr/>
          <p:nvPr/>
        </p:nvSpPr>
        <p:spPr>
          <a:xfrm>
            <a:off x="4937760" y="1161288"/>
            <a:ext cx="2148840" cy="320040"/>
          </a:xfrm>
          <a:prstGeom prst="rect">
            <a:avLst/>
          </a:prstGeom>
          <a:noFill/>
          <a:ln/>
        </p:spPr>
        <p:txBody>
          <a:bodyPr wrap="square" rtlCol="0" anchor="ctr"/>
          <a:lstStyle/>
          <a:p>
            <a:pPr algn="ctr" indent="0" marL="0">
              <a:buNone/>
            </a:pPr>
            <a:r>
              <a:rPr lang="en-US" sz="950" dirty="0">
                <a:solidFill>
                  <a:srgbClr val="5A5A5A"/>
                </a:solidFill>
                <a:latin typeface="Calibri" pitchFamily="34" charset="0"/>
                <a:ea typeface="Calibri" pitchFamily="34" charset="-122"/>
                <a:cs typeface="Calibri" pitchFamily="34" charset="-120"/>
              </a:rPr>
              <a:t>Year, Quarter, Month</a:t>
            </a:r>
            <a:endParaRPr lang="en-US" sz="950" dirty="0"/>
          </a:p>
        </p:txBody>
      </p:sp>
      <p:sp>
        <p:nvSpPr>
          <p:cNvPr id="10" name="Shape 8"/>
          <p:cNvSpPr/>
          <p:nvPr/>
        </p:nvSpPr>
        <p:spPr>
          <a:xfrm>
            <a:off x="1737360" y="1920240"/>
            <a:ext cx="2148840" cy="777240"/>
          </a:xfrm>
          <a:prstGeom prst="roundRect">
            <a:avLst>
              <a:gd name="adj" fmla="val 9412"/>
            </a:avLst>
          </a:prstGeom>
          <a:solidFill>
            <a:srgbClr val="F7F7F7"/>
          </a:solidFill>
          <a:ln w="15875">
            <a:solidFill>
              <a:srgbClr val="F68B1E"/>
            </a:solidFill>
            <a:prstDash val="solid"/>
          </a:ln>
        </p:spPr>
      </p:sp>
      <p:sp>
        <p:nvSpPr>
          <p:cNvPr id="11" name="Text 9"/>
          <p:cNvSpPr/>
          <p:nvPr/>
        </p:nvSpPr>
        <p:spPr>
          <a:xfrm>
            <a:off x="1737360" y="1993392"/>
            <a:ext cx="2148840" cy="320040"/>
          </a:xfrm>
          <a:prstGeom prst="rect">
            <a:avLst/>
          </a:prstGeom>
          <a:noFill/>
          <a:ln/>
        </p:spPr>
        <p:txBody>
          <a:bodyPr wrap="square"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Dim_Category</a:t>
            </a:r>
            <a:endParaRPr lang="en-US" sz="1250" dirty="0"/>
          </a:p>
        </p:txBody>
      </p:sp>
      <p:sp>
        <p:nvSpPr>
          <p:cNvPr id="12" name="Text 10"/>
          <p:cNvSpPr/>
          <p:nvPr/>
        </p:nvSpPr>
        <p:spPr>
          <a:xfrm>
            <a:off x="1737360" y="2304288"/>
            <a:ext cx="2148840" cy="320040"/>
          </a:xfrm>
          <a:prstGeom prst="rect">
            <a:avLst/>
          </a:prstGeom>
          <a:noFill/>
          <a:ln/>
        </p:spPr>
        <p:txBody>
          <a:bodyPr wrap="square" rtlCol="0" anchor="ctr"/>
          <a:lstStyle/>
          <a:p>
            <a:pPr algn="ctr" indent="0" marL="0">
              <a:buNone/>
            </a:pPr>
            <a:r>
              <a:rPr lang="en-US" sz="950" dirty="0">
                <a:solidFill>
                  <a:srgbClr val="5A5A5A"/>
                </a:solidFill>
                <a:latin typeface="Calibri" pitchFamily="34" charset="0"/>
                <a:ea typeface="Calibri" pitchFamily="34" charset="-122"/>
                <a:cs typeface="Calibri" pitchFamily="34" charset="-120"/>
              </a:rPr>
              <a:t>Category, Sub-Category</a:t>
            </a:r>
            <a:endParaRPr lang="en-US" sz="950" dirty="0"/>
          </a:p>
        </p:txBody>
      </p:sp>
      <p:sp>
        <p:nvSpPr>
          <p:cNvPr id="13" name="Shape 11"/>
          <p:cNvSpPr/>
          <p:nvPr/>
        </p:nvSpPr>
        <p:spPr>
          <a:xfrm>
            <a:off x="8138160" y="1920240"/>
            <a:ext cx="2148840" cy="777240"/>
          </a:xfrm>
          <a:prstGeom prst="roundRect">
            <a:avLst>
              <a:gd name="adj" fmla="val 9412"/>
            </a:avLst>
          </a:prstGeom>
          <a:solidFill>
            <a:srgbClr val="F7F7F7"/>
          </a:solidFill>
          <a:ln w="15875">
            <a:solidFill>
              <a:srgbClr val="F68B1E"/>
            </a:solidFill>
            <a:prstDash val="solid"/>
          </a:ln>
        </p:spPr>
      </p:sp>
      <p:sp>
        <p:nvSpPr>
          <p:cNvPr id="14" name="Text 12"/>
          <p:cNvSpPr/>
          <p:nvPr/>
        </p:nvSpPr>
        <p:spPr>
          <a:xfrm>
            <a:off x="8138160" y="1993392"/>
            <a:ext cx="2148840" cy="320040"/>
          </a:xfrm>
          <a:prstGeom prst="rect">
            <a:avLst/>
          </a:prstGeom>
          <a:noFill/>
          <a:ln/>
        </p:spPr>
        <p:txBody>
          <a:bodyPr wrap="square"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Dim_Region</a:t>
            </a:r>
            <a:endParaRPr lang="en-US" sz="1250" dirty="0"/>
          </a:p>
        </p:txBody>
      </p:sp>
      <p:sp>
        <p:nvSpPr>
          <p:cNvPr id="15" name="Text 13"/>
          <p:cNvSpPr/>
          <p:nvPr/>
        </p:nvSpPr>
        <p:spPr>
          <a:xfrm>
            <a:off x="8138160" y="2304288"/>
            <a:ext cx="2148840" cy="320040"/>
          </a:xfrm>
          <a:prstGeom prst="rect">
            <a:avLst/>
          </a:prstGeom>
          <a:noFill/>
          <a:ln/>
        </p:spPr>
        <p:txBody>
          <a:bodyPr wrap="square" rtlCol="0" anchor="ctr"/>
          <a:lstStyle/>
          <a:p>
            <a:pPr algn="ctr" indent="0" marL="0">
              <a:buNone/>
            </a:pPr>
            <a:r>
              <a:rPr lang="en-US" sz="950" dirty="0">
                <a:solidFill>
                  <a:srgbClr val="5A5A5A"/>
                </a:solidFill>
                <a:latin typeface="Calibri" pitchFamily="34" charset="0"/>
                <a:ea typeface="Calibri" pitchFamily="34" charset="-122"/>
                <a:cs typeface="Calibri" pitchFamily="34" charset="-120"/>
              </a:rPr>
              <a:t>Region, City</a:t>
            </a:r>
            <a:endParaRPr lang="en-US" sz="950" dirty="0"/>
          </a:p>
        </p:txBody>
      </p:sp>
      <p:sp>
        <p:nvSpPr>
          <p:cNvPr id="16" name="Shape 14"/>
          <p:cNvSpPr/>
          <p:nvPr/>
        </p:nvSpPr>
        <p:spPr>
          <a:xfrm>
            <a:off x="1737360" y="3657600"/>
            <a:ext cx="2148840" cy="777240"/>
          </a:xfrm>
          <a:prstGeom prst="roundRect">
            <a:avLst>
              <a:gd name="adj" fmla="val 9412"/>
            </a:avLst>
          </a:prstGeom>
          <a:solidFill>
            <a:srgbClr val="F7F7F7"/>
          </a:solidFill>
          <a:ln w="15875">
            <a:solidFill>
              <a:srgbClr val="F68B1E"/>
            </a:solidFill>
            <a:prstDash val="solid"/>
          </a:ln>
        </p:spPr>
      </p:sp>
      <p:sp>
        <p:nvSpPr>
          <p:cNvPr id="17" name="Text 15"/>
          <p:cNvSpPr/>
          <p:nvPr/>
        </p:nvSpPr>
        <p:spPr>
          <a:xfrm>
            <a:off x="1737360" y="3730752"/>
            <a:ext cx="2148840" cy="320040"/>
          </a:xfrm>
          <a:prstGeom prst="rect">
            <a:avLst/>
          </a:prstGeom>
          <a:noFill/>
          <a:ln/>
        </p:spPr>
        <p:txBody>
          <a:bodyPr wrap="square"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Dim_Segment</a:t>
            </a:r>
            <a:endParaRPr lang="en-US" sz="1250" dirty="0"/>
          </a:p>
        </p:txBody>
      </p:sp>
      <p:sp>
        <p:nvSpPr>
          <p:cNvPr id="18" name="Text 16"/>
          <p:cNvSpPr/>
          <p:nvPr/>
        </p:nvSpPr>
        <p:spPr>
          <a:xfrm>
            <a:off x="1737360" y="4041648"/>
            <a:ext cx="2148840" cy="320040"/>
          </a:xfrm>
          <a:prstGeom prst="rect">
            <a:avLst/>
          </a:prstGeom>
          <a:noFill/>
          <a:ln/>
        </p:spPr>
        <p:txBody>
          <a:bodyPr wrap="square" rtlCol="0" anchor="ctr"/>
          <a:lstStyle/>
          <a:p>
            <a:pPr algn="ctr" indent="0" marL="0">
              <a:buNone/>
            </a:pPr>
            <a:r>
              <a:rPr lang="en-US" sz="950" dirty="0">
                <a:solidFill>
                  <a:srgbClr val="5A5A5A"/>
                </a:solidFill>
                <a:latin typeface="Calibri" pitchFamily="34" charset="0"/>
                <a:ea typeface="Calibri" pitchFamily="34" charset="-122"/>
                <a:cs typeface="Calibri" pitchFamily="34" charset="-120"/>
              </a:rPr>
              <a:t>Segment</a:t>
            </a:r>
            <a:endParaRPr lang="en-US" sz="950" dirty="0"/>
          </a:p>
        </p:txBody>
      </p:sp>
      <p:sp>
        <p:nvSpPr>
          <p:cNvPr id="19" name="Shape 17"/>
          <p:cNvSpPr/>
          <p:nvPr/>
        </p:nvSpPr>
        <p:spPr>
          <a:xfrm>
            <a:off x="8138160" y="3657600"/>
            <a:ext cx="2148840" cy="777240"/>
          </a:xfrm>
          <a:prstGeom prst="roundRect">
            <a:avLst>
              <a:gd name="adj" fmla="val 9412"/>
            </a:avLst>
          </a:prstGeom>
          <a:solidFill>
            <a:srgbClr val="F7F7F7"/>
          </a:solidFill>
          <a:ln w="15875">
            <a:solidFill>
              <a:srgbClr val="F68B1E"/>
            </a:solidFill>
            <a:prstDash val="solid"/>
          </a:ln>
        </p:spPr>
      </p:sp>
      <p:sp>
        <p:nvSpPr>
          <p:cNvPr id="20" name="Text 18"/>
          <p:cNvSpPr/>
          <p:nvPr/>
        </p:nvSpPr>
        <p:spPr>
          <a:xfrm>
            <a:off x="8138160" y="3730752"/>
            <a:ext cx="2148840" cy="320040"/>
          </a:xfrm>
          <a:prstGeom prst="rect">
            <a:avLst/>
          </a:prstGeom>
          <a:noFill/>
          <a:ln/>
        </p:spPr>
        <p:txBody>
          <a:bodyPr wrap="square"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Dim_Customer</a:t>
            </a:r>
            <a:endParaRPr lang="en-US" sz="1250" dirty="0"/>
          </a:p>
        </p:txBody>
      </p:sp>
      <p:sp>
        <p:nvSpPr>
          <p:cNvPr id="21" name="Text 19"/>
          <p:cNvSpPr/>
          <p:nvPr/>
        </p:nvSpPr>
        <p:spPr>
          <a:xfrm>
            <a:off x="8138160" y="4041648"/>
            <a:ext cx="2148840" cy="320040"/>
          </a:xfrm>
          <a:prstGeom prst="rect">
            <a:avLst/>
          </a:prstGeom>
          <a:noFill/>
          <a:ln/>
        </p:spPr>
        <p:txBody>
          <a:bodyPr wrap="square" rtlCol="0" anchor="ctr"/>
          <a:lstStyle/>
          <a:p>
            <a:pPr algn="ctr" indent="0" marL="0">
              <a:buNone/>
            </a:pPr>
            <a:r>
              <a:rPr lang="en-US" sz="950" dirty="0">
                <a:solidFill>
                  <a:srgbClr val="5A5A5A"/>
                </a:solidFill>
                <a:latin typeface="Calibri" pitchFamily="34" charset="0"/>
                <a:ea typeface="Calibri" pitchFamily="34" charset="-122"/>
                <a:cs typeface="Calibri" pitchFamily="34" charset="-120"/>
              </a:rPr>
              <a:t>Customer, Order</a:t>
            </a:r>
            <a:endParaRPr lang="en-US" sz="950" dirty="0"/>
          </a:p>
        </p:txBody>
      </p:sp>
      <p:sp>
        <p:nvSpPr>
          <p:cNvPr id="22" name="Shape 20"/>
          <p:cNvSpPr/>
          <p:nvPr/>
        </p:nvSpPr>
        <p:spPr>
          <a:xfrm>
            <a:off x="640080" y="4846320"/>
            <a:ext cx="10881360" cy="1417320"/>
          </a:xfrm>
          <a:prstGeom prst="roundRect">
            <a:avLst>
              <a:gd name="adj" fmla="val 6452"/>
            </a:avLst>
          </a:prstGeom>
          <a:solidFill>
            <a:srgbClr val="FFF3E6"/>
          </a:solidFill>
          <a:ln w="12700">
            <a:solidFill>
              <a:srgbClr val="F68B1E"/>
            </a:solidFill>
            <a:prstDash val="solid"/>
          </a:ln>
        </p:spPr>
      </p:sp>
      <p:sp>
        <p:nvSpPr>
          <p:cNvPr id="23" name="Text 21"/>
          <p:cNvSpPr/>
          <p:nvPr/>
        </p:nvSpPr>
        <p:spPr>
          <a:xfrm>
            <a:off x="914400" y="4956048"/>
            <a:ext cx="10332720" cy="320040"/>
          </a:xfrm>
          <a:prstGeom prst="rect">
            <a:avLst/>
          </a:prstGeom>
          <a:noFill/>
          <a:ln/>
        </p:spPr>
        <p:txBody>
          <a:bodyPr wrap="square" rtlCol="0" anchor="ctr"/>
          <a:lstStyle/>
          <a:p>
            <a:pPr algn="r" indent="0" marL="0">
              <a:buNone/>
            </a:pPr>
            <a:r>
              <a:rPr lang="en-US" sz="1350" b="1" dirty="0">
                <a:solidFill>
                  <a:srgbClr val="D9720A"/>
                </a:solidFill>
                <a:latin typeface="Calibri" pitchFamily="34" charset="0"/>
                <a:ea typeface="Calibri" pitchFamily="34" charset="-122"/>
                <a:cs typeface="Calibri" pitchFamily="34" charset="-120"/>
              </a:rPr>
              <a:t>ليه Star Schema؟</a:t>
            </a:r>
            <a:endParaRPr lang="en-US" sz="1350" dirty="0"/>
          </a:p>
        </p:txBody>
      </p:sp>
      <p:sp>
        <p:nvSpPr>
          <p:cNvPr id="24" name="Text 22"/>
          <p:cNvSpPr/>
          <p:nvPr/>
        </p:nvSpPr>
        <p:spPr>
          <a:xfrm>
            <a:off x="914400" y="5285232"/>
            <a:ext cx="10332720" cy="914400"/>
          </a:xfrm>
          <a:prstGeom prst="rect">
            <a:avLst/>
          </a:prstGeom>
          <a:noFill/>
          <a:ln/>
        </p:spPr>
        <p:txBody>
          <a:bodyPr wrap="square" rtlCol="0" anchor="ctr"/>
          <a:lstStyle/>
          <a:p>
            <a:pPr algn="r" indent="0" marL="0">
              <a:lnSpc>
                <a:spcPct val="130000"/>
              </a:lnSpc>
              <a:buNone/>
            </a:pPr>
            <a:r>
              <a:rPr lang="en-US" sz="1250" dirty="0">
                <a:solidFill>
                  <a:srgbClr val="1A1A1A"/>
                </a:solidFill>
                <a:latin typeface="Calibri" pitchFamily="34" charset="0"/>
                <a:ea typeface="Calibri" pitchFamily="34" charset="-122"/>
                <a:cs typeface="Calibri" pitchFamily="34" charset="-120"/>
              </a:rPr>
              <a:t>فصلنا جدول الحقائق (المبيعات والأرقام) عن جداول الأبعاد (الفئة، المنطقة، التاريخ، القطاع) عشان نقلل التكرار، نسرّع أداء الفلترة والتقاطع، ونخلي مقاييس DAX تحسب صح من غير ازدواجية في البيانات.</a:t>
            </a:r>
            <a:endParaRPr lang="en-US" sz="1250" dirty="0"/>
          </a:p>
        </p:txBody>
      </p:sp>
      <p:sp>
        <p:nvSpPr>
          <p:cNvPr id="25" name="Text 23"/>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26" name="Text 2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800" b="1" dirty="0">
                <a:solidFill>
                  <a:srgbClr val="1A1A1A"/>
                </a:solidFill>
                <a:latin typeface="Cambria" pitchFamily="34" charset="0"/>
                <a:ea typeface="Cambria" pitchFamily="34" charset="-122"/>
                <a:cs typeface="Cambria" pitchFamily="34" charset="-120"/>
              </a:rPr>
              <a:t>مؤشرات الأداء الرئيسية (KPIs)</a:t>
            </a:r>
            <a:endParaRPr lang="en-US" sz="2800" dirty="0"/>
          </a:p>
        </p:txBody>
      </p:sp>
      <p:sp>
        <p:nvSpPr>
          <p:cNvPr id="3" name="Shape 1"/>
          <p:cNvSpPr/>
          <p:nvPr/>
        </p:nvSpPr>
        <p:spPr>
          <a:xfrm>
            <a:off x="640080" y="1554480"/>
            <a:ext cx="2029968" cy="1371600"/>
          </a:xfrm>
          <a:prstGeom prst="roundRect">
            <a:avLst>
              <a:gd name="adj" fmla="val 5333"/>
            </a:avLst>
          </a:prstGeom>
          <a:solidFill>
            <a:srgbClr val="1A1A1A"/>
          </a:solidFill>
          <a:ln/>
        </p:spPr>
      </p:sp>
      <p:sp>
        <p:nvSpPr>
          <p:cNvPr id="4" name="Text 2"/>
          <p:cNvSpPr/>
          <p:nvPr/>
        </p:nvSpPr>
        <p:spPr>
          <a:xfrm>
            <a:off x="640080" y="1719072"/>
            <a:ext cx="2029968" cy="502920"/>
          </a:xfrm>
          <a:prstGeom prst="rect">
            <a:avLst/>
          </a:prstGeom>
          <a:noFill/>
          <a:ln/>
        </p:spPr>
        <p:txBody>
          <a:bodyPr wrap="square" rtlCol="0" anchor="ctr"/>
          <a:lstStyle/>
          <a:p>
            <a:pPr algn="ctr" indent="0" marL="0">
              <a:buNone/>
            </a:pPr>
            <a:r>
              <a:rPr lang="en-US" sz="2200" b="1" dirty="0">
                <a:solidFill>
                  <a:srgbClr val="F68B1E"/>
                </a:solidFill>
                <a:latin typeface="Cambria" pitchFamily="34" charset="0"/>
                <a:ea typeface="Cambria" pitchFamily="34" charset="-122"/>
                <a:cs typeface="Cambria" pitchFamily="34" charset="-120"/>
              </a:rPr>
              <a:t>2.30M</a:t>
            </a:r>
            <a:endParaRPr lang="en-US" sz="2200" dirty="0"/>
          </a:p>
        </p:txBody>
      </p:sp>
      <p:sp>
        <p:nvSpPr>
          <p:cNvPr id="5" name="Text 3"/>
          <p:cNvSpPr/>
          <p:nvPr/>
        </p:nvSpPr>
        <p:spPr>
          <a:xfrm>
            <a:off x="640080" y="2267712"/>
            <a:ext cx="2029968"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Total Sales</a:t>
            </a:r>
            <a:endParaRPr lang="en-US" sz="1150" dirty="0"/>
          </a:p>
        </p:txBody>
      </p:sp>
      <p:sp>
        <p:nvSpPr>
          <p:cNvPr id="6" name="Shape 4"/>
          <p:cNvSpPr/>
          <p:nvPr/>
        </p:nvSpPr>
        <p:spPr>
          <a:xfrm>
            <a:off x="2834640" y="1554480"/>
            <a:ext cx="2029968" cy="1371600"/>
          </a:xfrm>
          <a:prstGeom prst="roundRect">
            <a:avLst>
              <a:gd name="adj" fmla="val 5333"/>
            </a:avLst>
          </a:prstGeom>
          <a:solidFill>
            <a:srgbClr val="1A1A1A"/>
          </a:solidFill>
          <a:ln/>
        </p:spPr>
      </p:sp>
      <p:sp>
        <p:nvSpPr>
          <p:cNvPr id="7" name="Text 5"/>
          <p:cNvSpPr/>
          <p:nvPr/>
        </p:nvSpPr>
        <p:spPr>
          <a:xfrm>
            <a:off x="2834640" y="1719072"/>
            <a:ext cx="2029968" cy="502920"/>
          </a:xfrm>
          <a:prstGeom prst="rect">
            <a:avLst/>
          </a:prstGeom>
          <a:noFill/>
          <a:ln/>
        </p:spPr>
        <p:txBody>
          <a:bodyPr wrap="square" rtlCol="0" anchor="ctr"/>
          <a:lstStyle/>
          <a:p>
            <a:pPr algn="ctr" indent="0" marL="0">
              <a:buNone/>
            </a:pPr>
            <a:r>
              <a:rPr lang="en-US" sz="2200" b="1" dirty="0">
                <a:solidFill>
                  <a:srgbClr val="F68B1E"/>
                </a:solidFill>
                <a:latin typeface="Cambria" pitchFamily="34" charset="0"/>
                <a:ea typeface="Cambria" pitchFamily="34" charset="-122"/>
                <a:cs typeface="Cambria" pitchFamily="34" charset="-120"/>
              </a:rPr>
              <a:t>285.90K</a:t>
            </a:r>
            <a:endParaRPr lang="en-US" sz="2200" dirty="0"/>
          </a:p>
        </p:txBody>
      </p:sp>
      <p:sp>
        <p:nvSpPr>
          <p:cNvPr id="8" name="Text 6"/>
          <p:cNvSpPr/>
          <p:nvPr/>
        </p:nvSpPr>
        <p:spPr>
          <a:xfrm>
            <a:off x="2834640" y="2267712"/>
            <a:ext cx="2029968"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Total Profit</a:t>
            </a:r>
            <a:endParaRPr lang="en-US" sz="1150" dirty="0"/>
          </a:p>
        </p:txBody>
      </p:sp>
      <p:sp>
        <p:nvSpPr>
          <p:cNvPr id="9" name="Shape 7"/>
          <p:cNvSpPr/>
          <p:nvPr/>
        </p:nvSpPr>
        <p:spPr>
          <a:xfrm>
            <a:off x="5029200" y="1554480"/>
            <a:ext cx="2029968" cy="1371600"/>
          </a:xfrm>
          <a:prstGeom prst="roundRect">
            <a:avLst>
              <a:gd name="adj" fmla="val 5333"/>
            </a:avLst>
          </a:prstGeom>
          <a:solidFill>
            <a:srgbClr val="1A1A1A"/>
          </a:solidFill>
          <a:ln/>
        </p:spPr>
      </p:sp>
      <p:sp>
        <p:nvSpPr>
          <p:cNvPr id="10" name="Text 8"/>
          <p:cNvSpPr/>
          <p:nvPr/>
        </p:nvSpPr>
        <p:spPr>
          <a:xfrm>
            <a:off x="5029200" y="1719072"/>
            <a:ext cx="2029968" cy="502920"/>
          </a:xfrm>
          <a:prstGeom prst="rect">
            <a:avLst/>
          </a:prstGeom>
          <a:noFill/>
          <a:ln/>
        </p:spPr>
        <p:txBody>
          <a:bodyPr wrap="square" rtlCol="0" anchor="ctr"/>
          <a:lstStyle/>
          <a:p>
            <a:pPr algn="ctr" indent="0" marL="0">
              <a:buNone/>
            </a:pPr>
            <a:r>
              <a:rPr lang="en-US" sz="2200" b="1" dirty="0">
                <a:solidFill>
                  <a:srgbClr val="F68B1E"/>
                </a:solidFill>
                <a:latin typeface="Cambria" pitchFamily="34" charset="0"/>
                <a:ea typeface="Cambria" pitchFamily="34" charset="-122"/>
                <a:cs typeface="Cambria" pitchFamily="34" charset="-120"/>
              </a:rPr>
              <a:t>38K</a:t>
            </a:r>
            <a:endParaRPr lang="en-US" sz="2200" dirty="0"/>
          </a:p>
        </p:txBody>
      </p:sp>
      <p:sp>
        <p:nvSpPr>
          <p:cNvPr id="11" name="Text 9"/>
          <p:cNvSpPr/>
          <p:nvPr/>
        </p:nvSpPr>
        <p:spPr>
          <a:xfrm>
            <a:off x="5029200" y="2267712"/>
            <a:ext cx="2029968"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Total Qty</a:t>
            </a:r>
            <a:endParaRPr lang="en-US" sz="1150" dirty="0"/>
          </a:p>
        </p:txBody>
      </p:sp>
      <p:sp>
        <p:nvSpPr>
          <p:cNvPr id="12" name="Shape 10"/>
          <p:cNvSpPr/>
          <p:nvPr/>
        </p:nvSpPr>
        <p:spPr>
          <a:xfrm>
            <a:off x="7223760" y="1554480"/>
            <a:ext cx="2029968" cy="1371600"/>
          </a:xfrm>
          <a:prstGeom prst="roundRect">
            <a:avLst>
              <a:gd name="adj" fmla="val 5333"/>
            </a:avLst>
          </a:prstGeom>
          <a:solidFill>
            <a:srgbClr val="1A1A1A"/>
          </a:solidFill>
          <a:ln/>
        </p:spPr>
      </p:sp>
      <p:sp>
        <p:nvSpPr>
          <p:cNvPr id="13" name="Text 11"/>
          <p:cNvSpPr/>
          <p:nvPr/>
        </p:nvSpPr>
        <p:spPr>
          <a:xfrm>
            <a:off x="7223760" y="1719072"/>
            <a:ext cx="2029968" cy="502920"/>
          </a:xfrm>
          <a:prstGeom prst="rect">
            <a:avLst/>
          </a:prstGeom>
          <a:noFill/>
          <a:ln/>
        </p:spPr>
        <p:txBody>
          <a:bodyPr wrap="square" rtlCol="0" anchor="ctr"/>
          <a:lstStyle/>
          <a:p>
            <a:pPr algn="ctr" indent="0" marL="0">
              <a:buNone/>
            </a:pPr>
            <a:r>
              <a:rPr lang="en-US" sz="2200" b="1" dirty="0">
                <a:solidFill>
                  <a:srgbClr val="F68B1E"/>
                </a:solidFill>
                <a:latin typeface="Cambria" pitchFamily="34" charset="0"/>
                <a:ea typeface="Cambria" pitchFamily="34" charset="-122"/>
                <a:cs typeface="Cambria" pitchFamily="34" charset="-120"/>
              </a:rPr>
              <a:t>458.48</a:t>
            </a:r>
            <a:endParaRPr lang="en-US" sz="2200" dirty="0"/>
          </a:p>
        </p:txBody>
      </p:sp>
      <p:sp>
        <p:nvSpPr>
          <p:cNvPr id="14" name="Text 12"/>
          <p:cNvSpPr/>
          <p:nvPr/>
        </p:nvSpPr>
        <p:spPr>
          <a:xfrm>
            <a:off x="7223760" y="2267712"/>
            <a:ext cx="2029968"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Avg Order Value</a:t>
            </a:r>
            <a:endParaRPr lang="en-US" sz="1150" dirty="0"/>
          </a:p>
        </p:txBody>
      </p:sp>
      <p:sp>
        <p:nvSpPr>
          <p:cNvPr id="15" name="Shape 13"/>
          <p:cNvSpPr/>
          <p:nvPr/>
        </p:nvSpPr>
        <p:spPr>
          <a:xfrm>
            <a:off x="9418320" y="1554480"/>
            <a:ext cx="2029968" cy="1371600"/>
          </a:xfrm>
          <a:prstGeom prst="roundRect">
            <a:avLst>
              <a:gd name="adj" fmla="val 5333"/>
            </a:avLst>
          </a:prstGeom>
          <a:solidFill>
            <a:srgbClr val="1A1A1A"/>
          </a:solidFill>
          <a:ln/>
        </p:spPr>
      </p:sp>
      <p:sp>
        <p:nvSpPr>
          <p:cNvPr id="16" name="Text 14"/>
          <p:cNvSpPr/>
          <p:nvPr/>
        </p:nvSpPr>
        <p:spPr>
          <a:xfrm>
            <a:off x="9418320" y="1719072"/>
            <a:ext cx="2029968" cy="502920"/>
          </a:xfrm>
          <a:prstGeom prst="rect">
            <a:avLst/>
          </a:prstGeom>
          <a:noFill/>
          <a:ln/>
        </p:spPr>
        <p:txBody>
          <a:bodyPr wrap="square" rtlCol="0" anchor="ctr"/>
          <a:lstStyle/>
          <a:p>
            <a:pPr algn="ctr" indent="0" marL="0">
              <a:buNone/>
            </a:pPr>
            <a:r>
              <a:rPr lang="en-US" sz="2200" b="1" dirty="0">
                <a:solidFill>
                  <a:srgbClr val="F68B1E"/>
                </a:solidFill>
                <a:latin typeface="Cambria" pitchFamily="34" charset="0"/>
                <a:ea typeface="Cambria" pitchFamily="34" charset="-122"/>
                <a:cs typeface="Cambria" pitchFamily="34" charset="-120"/>
              </a:rPr>
              <a:t>5K</a:t>
            </a:r>
            <a:endParaRPr lang="en-US" sz="2200" dirty="0"/>
          </a:p>
        </p:txBody>
      </p:sp>
      <p:sp>
        <p:nvSpPr>
          <p:cNvPr id="17" name="Text 15"/>
          <p:cNvSpPr/>
          <p:nvPr/>
        </p:nvSpPr>
        <p:spPr>
          <a:xfrm>
            <a:off x="9418320" y="2267712"/>
            <a:ext cx="2029968"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Total Orders</a:t>
            </a:r>
            <a:endParaRPr lang="en-US" sz="1150" dirty="0"/>
          </a:p>
        </p:txBody>
      </p:sp>
      <p:sp>
        <p:nvSpPr>
          <p:cNvPr id="18" name="Shape 16"/>
          <p:cNvSpPr/>
          <p:nvPr/>
        </p:nvSpPr>
        <p:spPr>
          <a:xfrm>
            <a:off x="640080" y="3200400"/>
            <a:ext cx="10881360" cy="3063240"/>
          </a:xfrm>
          <a:prstGeom prst="roundRect">
            <a:avLst>
              <a:gd name="adj" fmla="val 2985"/>
            </a:avLst>
          </a:prstGeom>
          <a:solidFill>
            <a:srgbClr val="F7F7F7"/>
          </a:solidFill>
          <a:ln w="12700">
            <a:solidFill>
              <a:srgbClr val="E5E5E5"/>
            </a:solidFill>
            <a:prstDash val="solid"/>
          </a:ln>
        </p:spPr>
      </p:sp>
      <p:sp>
        <p:nvSpPr>
          <p:cNvPr id="19" name="Text 17"/>
          <p:cNvSpPr/>
          <p:nvPr/>
        </p:nvSpPr>
        <p:spPr>
          <a:xfrm>
            <a:off x="914400" y="3337560"/>
            <a:ext cx="10332720" cy="365760"/>
          </a:xfrm>
          <a:prstGeom prst="rect">
            <a:avLst/>
          </a:prstGeom>
          <a:noFill/>
          <a:ln/>
        </p:spPr>
        <p:txBody>
          <a:bodyPr wrap="square" rtlCol="0" anchor="ctr"/>
          <a:lstStyle/>
          <a:p>
            <a:pPr algn="r" indent="0" marL="0">
              <a:buNone/>
            </a:pPr>
            <a:r>
              <a:rPr lang="en-US" sz="1400" b="1" dirty="0">
                <a:solidFill>
                  <a:srgbClr val="1A1A1A"/>
                </a:solidFill>
                <a:latin typeface="Calibri" pitchFamily="34" charset="0"/>
                <a:ea typeface="Calibri" pitchFamily="34" charset="-122"/>
                <a:cs typeface="Calibri" pitchFamily="34" charset="-120"/>
              </a:rPr>
              <a:t>نمط مقاييس DAX المستخدمة عادة لهذه المؤشرات</a:t>
            </a:r>
            <a:endParaRPr lang="en-US" sz="1400" dirty="0"/>
          </a:p>
        </p:txBody>
      </p:sp>
      <p:sp>
        <p:nvSpPr>
          <p:cNvPr id="20" name="Text 18"/>
          <p:cNvSpPr/>
          <p:nvPr/>
        </p:nvSpPr>
        <p:spPr>
          <a:xfrm>
            <a:off x="7863840" y="3794760"/>
            <a:ext cx="3017520" cy="384048"/>
          </a:xfrm>
          <a:prstGeom prst="rect">
            <a:avLst/>
          </a:prstGeom>
          <a:noFill/>
          <a:ln/>
        </p:spPr>
        <p:txBody>
          <a:bodyPr wrap="square" rtlCol="0" anchor="ctr"/>
          <a:lstStyle/>
          <a:p>
            <a:pPr algn="r" indent="0" marL="0">
              <a:buNone/>
            </a:pPr>
            <a:r>
              <a:rPr lang="en-US" sz="1200" b="1" dirty="0">
                <a:solidFill>
                  <a:srgbClr val="D9720A"/>
                </a:solidFill>
                <a:latin typeface="Calibri" pitchFamily="34" charset="0"/>
                <a:ea typeface="Calibri" pitchFamily="34" charset="-122"/>
                <a:cs typeface="Calibri" pitchFamily="34" charset="-120"/>
              </a:rPr>
              <a:t>Total Sales</a:t>
            </a:r>
            <a:endParaRPr lang="en-US" sz="1200" dirty="0"/>
          </a:p>
        </p:txBody>
      </p:sp>
      <p:sp>
        <p:nvSpPr>
          <p:cNvPr id="21" name="Text 19"/>
          <p:cNvSpPr/>
          <p:nvPr/>
        </p:nvSpPr>
        <p:spPr>
          <a:xfrm>
            <a:off x="914400" y="3794760"/>
            <a:ext cx="6766560" cy="384048"/>
          </a:xfrm>
          <a:prstGeom prst="rect">
            <a:avLst/>
          </a:prstGeom>
          <a:noFill/>
          <a:ln/>
        </p:spPr>
        <p:txBody>
          <a:bodyPr wrap="square"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SUM(Fact_Sales[Sales])</a:t>
            </a:r>
            <a:endParaRPr lang="en-US" sz="1200" dirty="0"/>
          </a:p>
        </p:txBody>
      </p:sp>
      <p:sp>
        <p:nvSpPr>
          <p:cNvPr id="22" name="Text 20"/>
          <p:cNvSpPr/>
          <p:nvPr/>
        </p:nvSpPr>
        <p:spPr>
          <a:xfrm>
            <a:off x="7863840" y="4297680"/>
            <a:ext cx="3017520" cy="384048"/>
          </a:xfrm>
          <a:prstGeom prst="rect">
            <a:avLst/>
          </a:prstGeom>
          <a:noFill/>
          <a:ln/>
        </p:spPr>
        <p:txBody>
          <a:bodyPr wrap="square" rtlCol="0" anchor="ctr"/>
          <a:lstStyle/>
          <a:p>
            <a:pPr algn="r" indent="0" marL="0">
              <a:buNone/>
            </a:pPr>
            <a:r>
              <a:rPr lang="en-US" sz="1200" b="1" dirty="0">
                <a:solidFill>
                  <a:srgbClr val="D9720A"/>
                </a:solidFill>
                <a:latin typeface="Calibri" pitchFamily="34" charset="0"/>
                <a:ea typeface="Calibri" pitchFamily="34" charset="-122"/>
                <a:cs typeface="Calibri" pitchFamily="34" charset="-120"/>
              </a:rPr>
              <a:t>Total Profit</a:t>
            </a:r>
            <a:endParaRPr lang="en-US" sz="1200" dirty="0"/>
          </a:p>
        </p:txBody>
      </p:sp>
      <p:sp>
        <p:nvSpPr>
          <p:cNvPr id="23" name="Text 21"/>
          <p:cNvSpPr/>
          <p:nvPr/>
        </p:nvSpPr>
        <p:spPr>
          <a:xfrm>
            <a:off x="914400" y="4297680"/>
            <a:ext cx="6766560" cy="384048"/>
          </a:xfrm>
          <a:prstGeom prst="rect">
            <a:avLst/>
          </a:prstGeom>
          <a:noFill/>
          <a:ln/>
        </p:spPr>
        <p:txBody>
          <a:bodyPr wrap="square"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SUM(Fact_Sales[Profit])</a:t>
            </a:r>
            <a:endParaRPr lang="en-US" sz="1200" dirty="0"/>
          </a:p>
        </p:txBody>
      </p:sp>
      <p:sp>
        <p:nvSpPr>
          <p:cNvPr id="24" name="Text 22"/>
          <p:cNvSpPr/>
          <p:nvPr/>
        </p:nvSpPr>
        <p:spPr>
          <a:xfrm>
            <a:off x="7863840" y="4800600"/>
            <a:ext cx="3017520" cy="384048"/>
          </a:xfrm>
          <a:prstGeom prst="rect">
            <a:avLst/>
          </a:prstGeom>
          <a:noFill/>
          <a:ln/>
        </p:spPr>
        <p:txBody>
          <a:bodyPr wrap="square" rtlCol="0" anchor="ctr"/>
          <a:lstStyle/>
          <a:p>
            <a:pPr algn="r" indent="0" marL="0">
              <a:buNone/>
            </a:pPr>
            <a:r>
              <a:rPr lang="en-US" sz="1200" b="1" dirty="0">
                <a:solidFill>
                  <a:srgbClr val="D9720A"/>
                </a:solidFill>
                <a:latin typeface="Calibri" pitchFamily="34" charset="0"/>
                <a:ea typeface="Calibri" pitchFamily="34" charset="-122"/>
                <a:cs typeface="Calibri" pitchFamily="34" charset="-120"/>
              </a:rPr>
              <a:t>Total Qty</a:t>
            </a:r>
            <a:endParaRPr lang="en-US" sz="1200" dirty="0"/>
          </a:p>
        </p:txBody>
      </p:sp>
      <p:sp>
        <p:nvSpPr>
          <p:cNvPr id="25" name="Text 23"/>
          <p:cNvSpPr/>
          <p:nvPr/>
        </p:nvSpPr>
        <p:spPr>
          <a:xfrm>
            <a:off x="914400" y="4800600"/>
            <a:ext cx="6766560" cy="384048"/>
          </a:xfrm>
          <a:prstGeom prst="rect">
            <a:avLst/>
          </a:prstGeom>
          <a:noFill/>
          <a:ln/>
        </p:spPr>
        <p:txBody>
          <a:bodyPr wrap="square"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SUM(Fact_Sales[Quantity])</a:t>
            </a:r>
            <a:endParaRPr lang="en-US" sz="1200" dirty="0"/>
          </a:p>
        </p:txBody>
      </p:sp>
      <p:sp>
        <p:nvSpPr>
          <p:cNvPr id="26" name="Text 24"/>
          <p:cNvSpPr/>
          <p:nvPr/>
        </p:nvSpPr>
        <p:spPr>
          <a:xfrm>
            <a:off x="7863840" y="5303520"/>
            <a:ext cx="3017520" cy="384048"/>
          </a:xfrm>
          <a:prstGeom prst="rect">
            <a:avLst/>
          </a:prstGeom>
          <a:noFill/>
          <a:ln/>
        </p:spPr>
        <p:txBody>
          <a:bodyPr wrap="square" rtlCol="0" anchor="ctr"/>
          <a:lstStyle/>
          <a:p>
            <a:pPr algn="r" indent="0" marL="0">
              <a:buNone/>
            </a:pPr>
            <a:r>
              <a:rPr lang="en-US" sz="1200" b="1" dirty="0">
                <a:solidFill>
                  <a:srgbClr val="D9720A"/>
                </a:solidFill>
                <a:latin typeface="Calibri" pitchFamily="34" charset="0"/>
                <a:ea typeface="Calibri" pitchFamily="34" charset="-122"/>
                <a:cs typeface="Calibri" pitchFamily="34" charset="-120"/>
              </a:rPr>
              <a:t>Avg Order Value</a:t>
            </a:r>
            <a:endParaRPr lang="en-US" sz="1200" dirty="0"/>
          </a:p>
        </p:txBody>
      </p:sp>
      <p:sp>
        <p:nvSpPr>
          <p:cNvPr id="27" name="Text 25"/>
          <p:cNvSpPr/>
          <p:nvPr/>
        </p:nvSpPr>
        <p:spPr>
          <a:xfrm>
            <a:off x="914400" y="5303520"/>
            <a:ext cx="6766560" cy="384048"/>
          </a:xfrm>
          <a:prstGeom prst="rect">
            <a:avLst/>
          </a:prstGeom>
          <a:noFill/>
          <a:ln/>
        </p:spPr>
        <p:txBody>
          <a:bodyPr wrap="square"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DIVIDE([Total Sales], [Total Orders])</a:t>
            </a:r>
            <a:endParaRPr lang="en-US" sz="1200" dirty="0"/>
          </a:p>
        </p:txBody>
      </p:sp>
      <p:sp>
        <p:nvSpPr>
          <p:cNvPr id="28" name="Text 26"/>
          <p:cNvSpPr/>
          <p:nvPr/>
        </p:nvSpPr>
        <p:spPr>
          <a:xfrm>
            <a:off x="7863840" y="5806440"/>
            <a:ext cx="3017520" cy="384048"/>
          </a:xfrm>
          <a:prstGeom prst="rect">
            <a:avLst/>
          </a:prstGeom>
          <a:noFill/>
          <a:ln/>
        </p:spPr>
        <p:txBody>
          <a:bodyPr wrap="square" rtlCol="0" anchor="ctr"/>
          <a:lstStyle/>
          <a:p>
            <a:pPr algn="r" indent="0" marL="0">
              <a:buNone/>
            </a:pPr>
            <a:r>
              <a:rPr lang="en-US" sz="1200" b="1" dirty="0">
                <a:solidFill>
                  <a:srgbClr val="D9720A"/>
                </a:solidFill>
                <a:latin typeface="Calibri" pitchFamily="34" charset="0"/>
                <a:ea typeface="Calibri" pitchFamily="34" charset="-122"/>
                <a:cs typeface="Calibri" pitchFamily="34" charset="-120"/>
              </a:rPr>
              <a:t>Total Orders</a:t>
            </a:r>
            <a:endParaRPr lang="en-US" sz="1200" dirty="0"/>
          </a:p>
        </p:txBody>
      </p:sp>
      <p:sp>
        <p:nvSpPr>
          <p:cNvPr id="29" name="Text 27"/>
          <p:cNvSpPr/>
          <p:nvPr/>
        </p:nvSpPr>
        <p:spPr>
          <a:xfrm>
            <a:off x="914400" y="5806440"/>
            <a:ext cx="6766560" cy="384048"/>
          </a:xfrm>
          <a:prstGeom prst="rect">
            <a:avLst/>
          </a:prstGeom>
          <a:noFill/>
          <a:ln/>
        </p:spPr>
        <p:txBody>
          <a:bodyPr wrap="square"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DISTINCTCOUNT(Fact_Sales[OrderID])</a:t>
            </a:r>
            <a:endParaRPr lang="en-US" sz="1200" dirty="0"/>
          </a:p>
        </p:txBody>
      </p:sp>
      <p:sp>
        <p:nvSpPr>
          <p:cNvPr id="30" name="Text 28"/>
          <p:cNvSpPr/>
          <p:nvPr/>
        </p:nvSpPr>
        <p:spPr>
          <a:xfrm>
            <a:off x="914400" y="6400800"/>
            <a:ext cx="10332720" cy="457200"/>
          </a:xfrm>
          <a:prstGeom prst="rect">
            <a:avLst/>
          </a:prstGeom>
          <a:noFill/>
          <a:ln/>
        </p:spPr>
        <p:txBody>
          <a:bodyPr wrap="square" rtlCol="0" anchor="ctr"/>
          <a:lstStyle/>
          <a:p>
            <a:pPr algn="r" indent="0" marL="0">
              <a:buNone/>
            </a:pPr>
            <a:r>
              <a:rPr lang="en-US" sz="1050" i="1" dirty="0">
                <a:solidFill>
                  <a:srgbClr val="5A5A5A"/>
                </a:solidFill>
                <a:latin typeface="Calibri" pitchFamily="34" charset="0"/>
                <a:ea typeface="Calibri" pitchFamily="34" charset="-122"/>
                <a:cs typeface="Calibri" pitchFamily="34" charset="-120"/>
              </a:rPr>
              <a:t>ملحوظة: الصيغ أعلاه توضح النمط المنطقي المتّبع لحساب كل مقياس بناءً على نموذج البيانات، وليست بالضرورة النص الحرفي المستخدم في الملف.</a:t>
            </a:r>
            <a:endParaRPr lang="en-US" sz="1050" dirty="0"/>
          </a:p>
        </p:txBody>
      </p:sp>
      <p:sp>
        <p:nvSpPr>
          <p:cNvPr id="31" name="Text 29"/>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32" name="Text 30"/>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600" b="1" dirty="0">
                <a:solidFill>
                  <a:srgbClr val="1A1A1A"/>
                </a:solidFill>
                <a:latin typeface="Cambria" pitchFamily="34" charset="0"/>
                <a:ea typeface="Cambria" pitchFamily="34" charset="-122"/>
                <a:cs typeface="Cambria" pitchFamily="34" charset="-120"/>
              </a:rPr>
              <a:t>الأداء حسب المنطقة والربع السنوي</a:t>
            </a:r>
            <a:endParaRPr lang="en-US" sz="2600" dirty="0"/>
          </a:p>
        </p:txBody>
      </p:sp>
      <p:sp>
        <p:nvSpPr>
          <p:cNvPr id="3" name="Text 1"/>
          <p:cNvSpPr/>
          <p:nvPr/>
        </p:nvSpPr>
        <p:spPr>
          <a:xfrm>
            <a:off x="640080" y="960120"/>
            <a:ext cx="10881360" cy="365760"/>
          </a:xfrm>
          <a:prstGeom prst="rect">
            <a:avLst/>
          </a:prstGeom>
          <a:noFill/>
          <a:ln/>
        </p:spPr>
        <p:txBody>
          <a:bodyPr wrap="square" rtlCol="0" anchor="ctr"/>
          <a:lstStyle/>
          <a:p>
            <a:pPr algn="r" indent="0" marL="0">
              <a:buNone/>
            </a:pPr>
            <a:r>
              <a:rPr lang="en-US" sz="1300" dirty="0">
                <a:solidFill>
                  <a:srgbClr val="5A5A5A"/>
                </a:solidFill>
                <a:latin typeface="Calibri" pitchFamily="34" charset="0"/>
                <a:ea typeface="Calibri" pitchFamily="34" charset="-122"/>
                <a:cs typeface="Calibri" pitchFamily="34" charset="-120"/>
              </a:rPr>
              <a:t>Total Orders &amp; Profit Margin % by Region and Quarter</a:t>
            </a:r>
            <a:endParaRPr lang="en-US" sz="1300" dirty="0"/>
          </a:p>
        </p:txBody>
      </p:sp>
      <p:sp>
        <p:nvSpPr>
          <p:cNvPr id="4" name="Shape 2"/>
          <p:cNvSpPr/>
          <p:nvPr/>
        </p:nvSpPr>
        <p:spPr>
          <a:xfrm>
            <a:off x="640080" y="1508760"/>
            <a:ext cx="10881360" cy="2331720"/>
          </a:xfrm>
          <a:prstGeom prst="roundRect">
            <a:avLst>
              <a:gd name="adj" fmla="val 3922"/>
            </a:avLst>
          </a:prstGeom>
          <a:solidFill>
            <a:srgbClr val="F7F7F7"/>
          </a:solidFill>
          <a:ln w="12700">
            <a:solidFill>
              <a:srgbClr val="E5E5E5"/>
            </a:solidFill>
            <a:prstDash val="solid"/>
          </a:ln>
        </p:spPr>
      </p:sp>
      <p:sp>
        <p:nvSpPr>
          <p:cNvPr id="5" name="Text 3"/>
          <p:cNvSpPr/>
          <p:nvPr/>
        </p:nvSpPr>
        <p:spPr>
          <a:xfrm>
            <a:off x="914400" y="1645920"/>
            <a:ext cx="10332720" cy="320040"/>
          </a:xfrm>
          <a:prstGeom prst="rect">
            <a:avLst/>
          </a:prstGeom>
          <a:noFill/>
          <a:ln/>
        </p:spPr>
        <p:txBody>
          <a:bodyPr wrap="square" rtlCol="0" anchor="ctr"/>
          <a:lstStyle/>
          <a:p>
            <a:pPr algn="r" indent="0" marL="0">
              <a:buNone/>
            </a:pPr>
            <a:r>
              <a:rPr lang="en-US" sz="1350" b="1" dirty="0">
                <a:solidFill>
                  <a:srgbClr val="D9720A"/>
                </a:solidFill>
                <a:latin typeface="Calibri" pitchFamily="34" charset="0"/>
                <a:ea typeface="Calibri" pitchFamily="34" charset="-122"/>
                <a:cs typeface="Calibri" pitchFamily="34" charset="-120"/>
              </a:rPr>
              <a:t>وصف الرسم</a:t>
            </a:r>
            <a:endParaRPr lang="en-US" sz="1350" dirty="0"/>
          </a:p>
        </p:txBody>
      </p:sp>
      <p:sp>
        <p:nvSpPr>
          <p:cNvPr id="6" name="Text 4"/>
          <p:cNvSpPr/>
          <p:nvPr/>
        </p:nvSpPr>
        <p:spPr>
          <a:xfrm>
            <a:off x="914400" y="2011680"/>
            <a:ext cx="10332720" cy="1737360"/>
          </a:xfrm>
          <a:prstGeom prst="rect">
            <a:avLst/>
          </a:prstGeom>
          <a:noFill/>
          <a:ln/>
        </p:spPr>
        <p:txBody>
          <a:bodyPr wrap="square" rtlCol="0" anchor="ctr"/>
          <a:lstStyle/>
          <a:p>
            <a:pPr algn="r" indent="0" marL="0">
              <a:lnSpc>
                <a:spcPct val="135000"/>
              </a:lnSpc>
              <a:buNone/>
            </a:pPr>
            <a:r>
              <a:rPr lang="en-US" sz="1300" dirty="0">
                <a:solidFill>
                  <a:srgbClr val="1A1A1A"/>
                </a:solidFill>
                <a:latin typeface="Calibri" pitchFamily="34" charset="0"/>
                <a:ea typeface="Calibri" pitchFamily="34" charset="-122"/>
                <a:cs typeface="Calibri" pitchFamily="34" charset="-120"/>
              </a:rPr>
              <a:t>رسم بياني مركب (Combo Chart) بيجمع بين أعمدة (عدد الطلبات) وخط (نسبة هامش الربح %) لكل ربع سنوي داخل كل منطقة من المناطق الأربعة (Central, East, South, West). الهدف إننا نشوف مش بس حجم الطلبات، لكن كمان كفاءة الربحية المصاحبة له في نفس الوقت.</a:t>
            </a:r>
            <a:endParaRPr lang="en-US" sz="1300" dirty="0"/>
          </a:p>
        </p:txBody>
      </p:sp>
      <p:sp>
        <p:nvSpPr>
          <p:cNvPr id="7" name="Shape 5"/>
          <p:cNvSpPr/>
          <p:nvPr/>
        </p:nvSpPr>
        <p:spPr>
          <a:xfrm>
            <a:off x="640080" y="4023360"/>
            <a:ext cx="10881360" cy="2240280"/>
          </a:xfrm>
          <a:prstGeom prst="roundRect">
            <a:avLst>
              <a:gd name="adj" fmla="val 4082"/>
            </a:avLst>
          </a:prstGeom>
          <a:solidFill>
            <a:srgbClr val="FFF3E6"/>
          </a:solidFill>
          <a:ln w="12700">
            <a:solidFill>
              <a:srgbClr val="F68B1E"/>
            </a:solidFill>
            <a:prstDash val="solid"/>
          </a:ln>
        </p:spPr>
      </p:sp>
      <p:sp>
        <p:nvSpPr>
          <p:cNvPr id="8" name="Text 6"/>
          <p:cNvSpPr/>
          <p:nvPr/>
        </p:nvSpPr>
        <p:spPr>
          <a:xfrm>
            <a:off x="914400" y="4160520"/>
            <a:ext cx="10332720" cy="320040"/>
          </a:xfrm>
          <a:prstGeom prst="rect">
            <a:avLst/>
          </a:prstGeom>
          <a:noFill/>
          <a:ln/>
        </p:spPr>
        <p:txBody>
          <a:bodyPr wrap="square" rtlCol="0" anchor="ctr"/>
          <a:lstStyle/>
          <a:p>
            <a:pPr algn="r" indent="0" marL="0">
              <a:buNone/>
            </a:pPr>
            <a:r>
              <a:rPr lang="en-US" sz="1350" b="1" dirty="0">
                <a:solidFill>
                  <a:srgbClr val="D9720A"/>
                </a:solidFill>
                <a:latin typeface="Calibri" pitchFamily="34" charset="0"/>
                <a:ea typeface="Calibri" pitchFamily="34" charset="-122"/>
                <a:cs typeface="Calibri" pitchFamily="34" charset="-120"/>
              </a:rPr>
              <a:t>أهم ما يُلاحظ</a:t>
            </a:r>
            <a:endParaRPr lang="en-US" sz="1350" dirty="0"/>
          </a:p>
        </p:txBody>
      </p:sp>
      <p:sp>
        <p:nvSpPr>
          <p:cNvPr id="9" name="Text 7"/>
          <p:cNvSpPr/>
          <p:nvPr/>
        </p:nvSpPr>
        <p:spPr>
          <a:xfrm>
            <a:off x="914400" y="4526280"/>
            <a:ext cx="10332720" cy="1600200"/>
          </a:xfrm>
          <a:prstGeom prst="rect">
            <a:avLst/>
          </a:prstGeom>
          <a:noFill/>
          <a:ln/>
        </p:spPr>
        <p:txBody>
          <a:bodyPr wrap="square" rtlCol="0" anchor="ctr"/>
          <a:lstStyle/>
          <a:p>
            <a:pPr algn="r" indent="0" marL="0">
              <a:lnSpc>
                <a:spcPct val="140000"/>
              </a:lnSpc>
              <a:buNone/>
            </a:pPr>
            <a:r>
              <a:rPr lang="en-US" sz="1250" dirty="0">
                <a:solidFill>
                  <a:srgbClr val="1A1A1A"/>
                </a:solidFill>
                <a:latin typeface="Calibri" pitchFamily="34" charset="0"/>
                <a:ea typeface="Calibri" pitchFamily="34" charset="-122"/>
                <a:cs typeface="Calibri" pitchFamily="34" charset="-120"/>
              </a:rPr>
              <a:t>• منطقة West حققت أعلى عدد طلبات في Q4 (594 طلب) مع هامش ربح قوي (14.8%).</a:t>
            </a:r>
            <a:endParaRPr lang="en-US" sz="1250" dirty="0"/>
          </a:p>
          <a:p>
            <a:pPr algn="r" indent="0" marL="0">
              <a:lnSpc>
                <a:spcPct val="140000"/>
              </a:lnSpc>
              <a:buNone/>
            </a:pPr>
            <a:r>
              <a:rPr lang="en-US" sz="1250" dirty="0">
                <a:solidFill>
                  <a:srgbClr val="1A1A1A"/>
                </a:solidFill>
                <a:latin typeface="Calibri" pitchFamily="34" charset="0"/>
                <a:ea typeface="Calibri" pitchFamily="34" charset="-122"/>
                <a:cs typeface="Calibri" pitchFamily="34" charset="-120"/>
              </a:rPr>
              <a:t>• منطقة South سجّلت أضعف أداء نسبيًا في Q3 (217 طلب فقط) رغم تحسّن ملحوظ في هامش الربح بـ Q1 (16.9%).</a:t>
            </a:r>
            <a:endParaRPr lang="en-US" sz="1250" dirty="0"/>
          </a:p>
          <a:p>
            <a:pPr algn="r" indent="0" marL="0">
              <a:lnSpc>
                <a:spcPct val="140000"/>
              </a:lnSpc>
              <a:buNone/>
            </a:pPr>
            <a:r>
              <a:rPr lang="en-US" sz="1250" dirty="0">
                <a:solidFill>
                  <a:srgbClr val="1A1A1A"/>
                </a:solidFill>
                <a:latin typeface="Calibri" pitchFamily="34" charset="0"/>
                <a:ea typeface="Calibri" pitchFamily="34" charset="-122"/>
                <a:cs typeface="Calibri" pitchFamily="34" charset="-120"/>
              </a:rPr>
              <a:t>• أعلى هامش ربح على الإطلاق كان في East - Q3 بنسبة 16.5%، ما يشير لفرص لتوسيع الحصة السوقية هناك.</a:t>
            </a:r>
            <a:endParaRPr lang="en-US" sz="1250" dirty="0"/>
          </a:p>
        </p:txBody>
      </p:sp>
      <p:sp>
        <p:nvSpPr>
          <p:cNvPr id="10" name="Text 8"/>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600" b="1" dirty="0">
                <a:solidFill>
                  <a:srgbClr val="1A1A1A"/>
                </a:solidFill>
                <a:latin typeface="Cambria" pitchFamily="34" charset="0"/>
                <a:ea typeface="Cambria" pitchFamily="34" charset="-122"/>
                <a:cs typeface="Cambria" pitchFamily="34" charset="-120"/>
              </a:rPr>
              <a:t>توزيع المبيعات حسب الفئة والمنطقة</a:t>
            </a:r>
            <a:endParaRPr lang="en-US" sz="2600" dirty="0"/>
          </a:p>
        </p:txBody>
      </p:sp>
      <p:sp>
        <p:nvSpPr>
          <p:cNvPr id="3" name="Shape 1"/>
          <p:cNvSpPr/>
          <p:nvPr/>
        </p:nvSpPr>
        <p:spPr>
          <a:xfrm>
            <a:off x="640080" y="1188720"/>
            <a:ext cx="5257800" cy="5074920"/>
          </a:xfrm>
          <a:prstGeom prst="roundRect">
            <a:avLst>
              <a:gd name="adj" fmla="val 1802"/>
            </a:avLst>
          </a:prstGeom>
          <a:solidFill>
            <a:srgbClr val="F7F7F7"/>
          </a:solidFill>
          <a:ln w="12700">
            <a:solidFill>
              <a:srgbClr val="E5E5E5"/>
            </a:solidFill>
            <a:prstDash val="solid"/>
          </a:ln>
        </p:spPr>
      </p:sp>
      <p:sp>
        <p:nvSpPr>
          <p:cNvPr id="4" name="Text 2"/>
          <p:cNvSpPr/>
          <p:nvPr/>
        </p:nvSpPr>
        <p:spPr>
          <a:xfrm>
            <a:off x="914400" y="1325880"/>
            <a:ext cx="4709160" cy="365760"/>
          </a:xfrm>
          <a:prstGeom prst="rect">
            <a:avLst/>
          </a:prstGeom>
          <a:noFill/>
          <a:ln/>
        </p:spPr>
        <p:txBody>
          <a:bodyPr wrap="square"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Total Sales by Category</a:t>
            </a:r>
            <a:endParaRPr lang="en-US" sz="1500" dirty="0"/>
          </a:p>
        </p:txBody>
      </p:sp>
      <p:sp>
        <p:nvSpPr>
          <p:cNvPr id="5" name="Shape 3"/>
          <p:cNvSpPr/>
          <p:nvPr/>
        </p:nvSpPr>
        <p:spPr>
          <a:xfrm>
            <a:off x="914400" y="1828800"/>
            <a:ext cx="4709160" cy="502920"/>
          </a:xfrm>
          <a:prstGeom prst="roundRect">
            <a:avLst>
              <a:gd name="adj" fmla="val 10909"/>
            </a:avLst>
          </a:prstGeom>
          <a:solidFill>
            <a:srgbClr val="FFFFFF"/>
          </a:solidFill>
          <a:ln w="12700">
            <a:solidFill>
              <a:srgbClr val="E0E0E0"/>
            </a:solidFill>
            <a:prstDash val="solid"/>
          </a:ln>
        </p:spPr>
      </p:sp>
      <p:sp>
        <p:nvSpPr>
          <p:cNvPr id="6" name="Text 4"/>
          <p:cNvSpPr/>
          <p:nvPr/>
        </p:nvSpPr>
        <p:spPr>
          <a:xfrm>
            <a:off x="1051560" y="1828800"/>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36.39%</a:t>
            </a:r>
            <a:endParaRPr lang="en-US" sz="1400" dirty="0"/>
          </a:p>
        </p:txBody>
      </p:sp>
      <p:sp>
        <p:nvSpPr>
          <p:cNvPr id="7" name="Text 5"/>
          <p:cNvSpPr/>
          <p:nvPr/>
        </p:nvSpPr>
        <p:spPr>
          <a:xfrm>
            <a:off x="2103120" y="1828800"/>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Technology</a:t>
            </a:r>
            <a:endParaRPr lang="en-US" sz="1300" dirty="0"/>
          </a:p>
        </p:txBody>
      </p:sp>
      <p:sp>
        <p:nvSpPr>
          <p:cNvPr id="8" name="Shape 6"/>
          <p:cNvSpPr/>
          <p:nvPr/>
        </p:nvSpPr>
        <p:spPr>
          <a:xfrm>
            <a:off x="914400" y="2450592"/>
            <a:ext cx="4709160" cy="502920"/>
          </a:xfrm>
          <a:prstGeom prst="roundRect">
            <a:avLst>
              <a:gd name="adj" fmla="val 10909"/>
            </a:avLst>
          </a:prstGeom>
          <a:solidFill>
            <a:srgbClr val="FFFFFF"/>
          </a:solidFill>
          <a:ln w="12700">
            <a:solidFill>
              <a:srgbClr val="E0E0E0"/>
            </a:solidFill>
            <a:prstDash val="solid"/>
          </a:ln>
        </p:spPr>
      </p:sp>
      <p:sp>
        <p:nvSpPr>
          <p:cNvPr id="9" name="Text 7"/>
          <p:cNvSpPr/>
          <p:nvPr/>
        </p:nvSpPr>
        <p:spPr>
          <a:xfrm>
            <a:off x="1051560" y="2450592"/>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31.29%</a:t>
            </a:r>
            <a:endParaRPr lang="en-US" sz="1400" dirty="0"/>
          </a:p>
        </p:txBody>
      </p:sp>
      <p:sp>
        <p:nvSpPr>
          <p:cNvPr id="10" name="Text 8"/>
          <p:cNvSpPr/>
          <p:nvPr/>
        </p:nvSpPr>
        <p:spPr>
          <a:xfrm>
            <a:off x="2103120" y="2450592"/>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Office Supplies</a:t>
            </a:r>
            <a:endParaRPr lang="en-US" sz="1300" dirty="0"/>
          </a:p>
        </p:txBody>
      </p:sp>
      <p:sp>
        <p:nvSpPr>
          <p:cNvPr id="11" name="Shape 9"/>
          <p:cNvSpPr/>
          <p:nvPr/>
        </p:nvSpPr>
        <p:spPr>
          <a:xfrm>
            <a:off x="914400" y="3072384"/>
            <a:ext cx="4709160" cy="502920"/>
          </a:xfrm>
          <a:prstGeom prst="roundRect">
            <a:avLst>
              <a:gd name="adj" fmla="val 10909"/>
            </a:avLst>
          </a:prstGeom>
          <a:solidFill>
            <a:srgbClr val="FFFFFF"/>
          </a:solidFill>
          <a:ln w="12700">
            <a:solidFill>
              <a:srgbClr val="E0E0E0"/>
            </a:solidFill>
            <a:prstDash val="solid"/>
          </a:ln>
        </p:spPr>
      </p:sp>
      <p:sp>
        <p:nvSpPr>
          <p:cNvPr id="12" name="Text 10"/>
          <p:cNvSpPr/>
          <p:nvPr/>
        </p:nvSpPr>
        <p:spPr>
          <a:xfrm>
            <a:off x="1051560" y="3072384"/>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32.32%</a:t>
            </a:r>
            <a:endParaRPr lang="en-US" sz="1400" dirty="0"/>
          </a:p>
        </p:txBody>
      </p:sp>
      <p:sp>
        <p:nvSpPr>
          <p:cNvPr id="13" name="Text 11"/>
          <p:cNvSpPr/>
          <p:nvPr/>
        </p:nvSpPr>
        <p:spPr>
          <a:xfrm>
            <a:off x="2103120" y="3072384"/>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Furniture</a:t>
            </a:r>
            <a:endParaRPr lang="en-US" sz="1300" dirty="0"/>
          </a:p>
        </p:txBody>
      </p:sp>
      <p:sp>
        <p:nvSpPr>
          <p:cNvPr id="14" name="Text 12"/>
          <p:cNvSpPr/>
          <p:nvPr/>
        </p:nvSpPr>
        <p:spPr>
          <a:xfrm>
            <a:off x="914400" y="3831336"/>
            <a:ext cx="4709160" cy="1463040"/>
          </a:xfrm>
          <a:prstGeom prst="rect">
            <a:avLst/>
          </a:prstGeom>
          <a:noFill/>
          <a:ln/>
        </p:spPr>
        <p:txBody>
          <a:bodyPr wrap="square" rtlCol="0" anchor="ctr"/>
          <a:lstStyle/>
          <a:p>
            <a:pPr algn="r" indent="0" marL="0">
              <a:lnSpc>
                <a:spcPct val="130000"/>
              </a:lnSpc>
              <a:buNone/>
            </a:pPr>
            <a:r>
              <a:rPr lang="en-US" sz="1200" dirty="0">
                <a:solidFill>
                  <a:srgbClr val="5A5A5A"/>
                </a:solidFill>
                <a:latin typeface="Calibri" pitchFamily="34" charset="0"/>
                <a:ea typeface="Calibri" pitchFamily="34" charset="-122"/>
                <a:cs typeface="Calibri" pitchFamily="34" charset="-120"/>
              </a:rPr>
              <a:t>التخصص (Technology) بيستحوذ على أكبر نسبة من المبيعات، وده بيوجّه القرار نحو تخصيص ميزانية تسويقية وتخزين أكبر لتلك الفئة تحديدًا.</a:t>
            </a:r>
            <a:endParaRPr lang="en-US" sz="1200" dirty="0"/>
          </a:p>
        </p:txBody>
      </p:sp>
      <p:sp>
        <p:nvSpPr>
          <p:cNvPr id="15" name="Shape 13"/>
          <p:cNvSpPr/>
          <p:nvPr/>
        </p:nvSpPr>
        <p:spPr>
          <a:xfrm>
            <a:off x="6263640" y="1188720"/>
            <a:ext cx="5257800" cy="5074920"/>
          </a:xfrm>
          <a:prstGeom prst="roundRect">
            <a:avLst>
              <a:gd name="adj" fmla="val 1802"/>
            </a:avLst>
          </a:prstGeom>
          <a:solidFill>
            <a:srgbClr val="F7F7F7"/>
          </a:solidFill>
          <a:ln w="12700">
            <a:solidFill>
              <a:srgbClr val="E5E5E5"/>
            </a:solidFill>
            <a:prstDash val="solid"/>
          </a:ln>
        </p:spPr>
      </p:sp>
      <p:sp>
        <p:nvSpPr>
          <p:cNvPr id="16" name="Text 14"/>
          <p:cNvSpPr/>
          <p:nvPr/>
        </p:nvSpPr>
        <p:spPr>
          <a:xfrm>
            <a:off x="6537960" y="1325880"/>
            <a:ext cx="4709160" cy="365760"/>
          </a:xfrm>
          <a:prstGeom prst="rect">
            <a:avLst/>
          </a:prstGeom>
          <a:noFill/>
          <a:ln/>
        </p:spPr>
        <p:txBody>
          <a:bodyPr wrap="square"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Total Sales by Region</a:t>
            </a:r>
            <a:endParaRPr lang="en-US" sz="1500" dirty="0"/>
          </a:p>
        </p:txBody>
      </p:sp>
      <p:sp>
        <p:nvSpPr>
          <p:cNvPr id="17" name="Shape 15"/>
          <p:cNvSpPr/>
          <p:nvPr/>
        </p:nvSpPr>
        <p:spPr>
          <a:xfrm>
            <a:off x="6537960" y="1828800"/>
            <a:ext cx="4709160" cy="502920"/>
          </a:xfrm>
          <a:prstGeom prst="roundRect">
            <a:avLst>
              <a:gd name="adj" fmla="val 10909"/>
            </a:avLst>
          </a:prstGeom>
          <a:solidFill>
            <a:srgbClr val="FFFFFF"/>
          </a:solidFill>
          <a:ln w="12700">
            <a:solidFill>
              <a:srgbClr val="E0E0E0"/>
            </a:solidFill>
            <a:prstDash val="solid"/>
          </a:ln>
        </p:spPr>
      </p:sp>
      <p:sp>
        <p:nvSpPr>
          <p:cNvPr id="18" name="Text 16"/>
          <p:cNvSpPr/>
          <p:nvPr/>
        </p:nvSpPr>
        <p:spPr>
          <a:xfrm>
            <a:off x="6675120" y="1828800"/>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0.76M</a:t>
            </a:r>
            <a:endParaRPr lang="en-US" sz="1400" dirty="0"/>
          </a:p>
        </p:txBody>
      </p:sp>
      <p:sp>
        <p:nvSpPr>
          <p:cNvPr id="19" name="Text 17"/>
          <p:cNvSpPr/>
          <p:nvPr/>
        </p:nvSpPr>
        <p:spPr>
          <a:xfrm>
            <a:off x="7726680" y="1828800"/>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West</a:t>
            </a:r>
            <a:endParaRPr lang="en-US" sz="1300" dirty="0"/>
          </a:p>
        </p:txBody>
      </p:sp>
      <p:sp>
        <p:nvSpPr>
          <p:cNvPr id="20" name="Shape 18"/>
          <p:cNvSpPr/>
          <p:nvPr/>
        </p:nvSpPr>
        <p:spPr>
          <a:xfrm>
            <a:off x="6537960" y="2450592"/>
            <a:ext cx="4709160" cy="502920"/>
          </a:xfrm>
          <a:prstGeom prst="roundRect">
            <a:avLst>
              <a:gd name="adj" fmla="val 10909"/>
            </a:avLst>
          </a:prstGeom>
          <a:solidFill>
            <a:srgbClr val="FFFFFF"/>
          </a:solidFill>
          <a:ln w="12700">
            <a:solidFill>
              <a:srgbClr val="E0E0E0"/>
            </a:solidFill>
            <a:prstDash val="solid"/>
          </a:ln>
        </p:spPr>
      </p:sp>
      <p:sp>
        <p:nvSpPr>
          <p:cNvPr id="21" name="Text 19"/>
          <p:cNvSpPr/>
          <p:nvPr/>
        </p:nvSpPr>
        <p:spPr>
          <a:xfrm>
            <a:off x="6675120" y="2450592"/>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0.61M</a:t>
            </a:r>
            <a:endParaRPr lang="en-US" sz="1400" dirty="0"/>
          </a:p>
        </p:txBody>
      </p:sp>
      <p:sp>
        <p:nvSpPr>
          <p:cNvPr id="22" name="Text 20"/>
          <p:cNvSpPr/>
          <p:nvPr/>
        </p:nvSpPr>
        <p:spPr>
          <a:xfrm>
            <a:off x="7726680" y="2450592"/>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East</a:t>
            </a:r>
            <a:endParaRPr lang="en-US" sz="1300" dirty="0"/>
          </a:p>
        </p:txBody>
      </p:sp>
      <p:sp>
        <p:nvSpPr>
          <p:cNvPr id="23" name="Shape 21"/>
          <p:cNvSpPr/>
          <p:nvPr/>
        </p:nvSpPr>
        <p:spPr>
          <a:xfrm>
            <a:off x="6537960" y="3072384"/>
            <a:ext cx="4709160" cy="502920"/>
          </a:xfrm>
          <a:prstGeom prst="roundRect">
            <a:avLst>
              <a:gd name="adj" fmla="val 10909"/>
            </a:avLst>
          </a:prstGeom>
          <a:solidFill>
            <a:srgbClr val="FFFFFF"/>
          </a:solidFill>
          <a:ln w="12700">
            <a:solidFill>
              <a:srgbClr val="E0E0E0"/>
            </a:solidFill>
            <a:prstDash val="solid"/>
          </a:ln>
        </p:spPr>
      </p:sp>
      <p:sp>
        <p:nvSpPr>
          <p:cNvPr id="24" name="Text 22"/>
          <p:cNvSpPr/>
          <p:nvPr/>
        </p:nvSpPr>
        <p:spPr>
          <a:xfrm>
            <a:off x="6675120" y="3072384"/>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0.52M</a:t>
            </a:r>
            <a:endParaRPr lang="en-US" sz="1400" dirty="0"/>
          </a:p>
        </p:txBody>
      </p:sp>
      <p:sp>
        <p:nvSpPr>
          <p:cNvPr id="25" name="Text 23"/>
          <p:cNvSpPr/>
          <p:nvPr/>
        </p:nvSpPr>
        <p:spPr>
          <a:xfrm>
            <a:off x="7726680" y="3072384"/>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Central</a:t>
            </a:r>
            <a:endParaRPr lang="en-US" sz="1300" dirty="0"/>
          </a:p>
        </p:txBody>
      </p:sp>
      <p:sp>
        <p:nvSpPr>
          <p:cNvPr id="26" name="Shape 24"/>
          <p:cNvSpPr/>
          <p:nvPr/>
        </p:nvSpPr>
        <p:spPr>
          <a:xfrm>
            <a:off x="6537960" y="3694176"/>
            <a:ext cx="4709160" cy="502920"/>
          </a:xfrm>
          <a:prstGeom prst="roundRect">
            <a:avLst>
              <a:gd name="adj" fmla="val 10909"/>
            </a:avLst>
          </a:prstGeom>
          <a:solidFill>
            <a:srgbClr val="FFFFFF"/>
          </a:solidFill>
          <a:ln w="12700">
            <a:solidFill>
              <a:srgbClr val="E0E0E0"/>
            </a:solidFill>
            <a:prstDash val="solid"/>
          </a:ln>
        </p:spPr>
      </p:sp>
      <p:sp>
        <p:nvSpPr>
          <p:cNvPr id="27" name="Text 25"/>
          <p:cNvSpPr/>
          <p:nvPr/>
        </p:nvSpPr>
        <p:spPr>
          <a:xfrm>
            <a:off x="6675120" y="3694176"/>
            <a:ext cx="1097280" cy="502920"/>
          </a:xfrm>
          <a:prstGeom prst="rect">
            <a:avLst/>
          </a:prstGeom>
          <a:noFill/>
          <a:ln/>
        </p:spPr>
        <p:txBody>
          <a:bodyPr wrap="square" rtlCol="0" anchor="ctr"/>
          <a:lstStyle/>
          <a:p>
            <a:pPr indent="0" marL="0">
              <a:buNone/>
            </a:pPr>
            <a:r>
              <a:rPr lang="en-US" sz="1400" b="1" dirty="0">
                <a:solidFill>
                  <a:srgbClr val="D9720A"/>
                </a:solidFill>
                <a:latin typeface="Calibri" pitchFamily="34" charset="0"/>
                <a:ea typeface="Calibri" pitchFamily="34" charset="-122"/>
                <a:cs typeface="Calibri" pitchFamily="34" charset="-120"/>
              </a:rPr>
              <a:t>0.40M</a:t>
            </a:r>
            <a:endParaRPr lang="en-US" sz="1400" dirty="0"/>
          </a:p>
        </p:txBody>
      </p:sp>
      <p:sp>
        <p:nvSpPr>
          <p:cNvPr id="28" name="Text 26"/>
          <p:cNvSpPr/>
          <p:nvPr/>
        </p:nvSpPr>
        <p:spPr>
          <a:xfrm>
            <a:off x="7726680" y="3694176"/>
            <a:ext cx="3383280" cy="502920"/>
          </a:xfrm>
          <a:prstGeom prst="rect">
            <a:avLst/>
          </a:prstGeom>
          <a:noFill/>
          <a:ln/>
        </p:spPr>
        <p:txBody>
          <a:bodyPr wrap="square" rtlCol="0" anchor="ctr"/>
          <a:lstStyle/>
          <a:p>
            <a:pPr algn="r" indent="0" marL="0">
              <a:buNone/>
            </a:pPr>
            <a:r>
              <a:rPr lang="en-US" sz="1300" dirty="0">
                <a:solidFill>
                  <a:srgbClr val="1A1A1A"/>
                </a:solidFill>
                <a:latin typeface="Calibri" pitchFamily="34" charset="0"/>
                <a:ea typeface="Calibri" pitchFamily="34" charset="-122"/>
                <a:cs typeface="Calibri" pitchFamily="34" charset="-120"/>
              </a:rPr>
              <a:t>South</a:t>
            </a:r>
            <a:endParaRPr lang="en-US" sz="1300" dirty="0"/>
          </a:p>
        </p:txBody>
      </p:sp>
      <p:sp>
        <p:nvSpPr>
          <p:cNvPr id="29" name="Text 27"/>
          <p:cNvSpPr/>
          <p:nvPr/>
        </p:nvSpPr>
        <p:spPr>
          <a:xfrm>
            <a:off x="6537960" y="4453128"/>
            <a:ext cx="4709160" cy="1463040"/>
          </a:xfrm>
          <a:prstGeom prst="rect">
            <a:avLst/>
          </a:prstGeom>
          <a:noFill/>
          <a:ln/>
        </p:spPr>
        <p:txBody>
          <a:bodyPr wrap="square" rtlCol="0" anchor="ctr"/>
          <a:lstStyle/>
          <a:p>
            <a:pPr algn="r" indent="0" marL="0">
              <a:lnSpc>
                <a:spcPct val="130000"/>
              </a:lnSpc>
              <a:buNone/>
            </a:pPr>
            <a:r>
              <a:rPr lang="en-US" sz="1200" dirty="0">
                <a:solidFill>
                  <a:srgbClr val="5A5A5A"/>
                </a:solidFill>
                <a:latin typeface="Calibri" pitchFamily="34" charset="0"/>
                <a:ea typeface="Calibri" pitchFamily="34" charset="-122"/>
                <a:cs typeface="Calibri" pitchFamily="34" charset="-120"/>
              </a:rPr>
              <a:t>منطقة West هي الأعلى مبيعًا بفارق واضح عن باقي المناطق، بينما South هي الأقل، وده بيفتح فرصة نبحث سبب ضعف الأداء هناك (تسويق، توافر منتج، أو قدرة شرائية).</a:t>
            </a:r>
            <a:endParaRPr lang="en-US" sz="1200" dirty="0"/>
          </a:p>
        </p:txBody>
      </p:sp>
      <p:sp>
        <p:nvSpPr>
          <p:cNvPr id="30" name="Text 28"/>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31" name="Text 2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600" b="1" dirty="0">
                <a:solidFill>
                  <a:srgbClr val="1A1A1A"/>
                </a:solidFill>
                <a:latin typeface="Cambria" pitchFamily="34" charset="0"/>
                <a:ea typeface="Cambria" pitchFamily="34" charset="-122"/>
                <a:cs typeface="Cambria" pitchFamily="34" charset="-120"/>
              </a:rPr>
              <a:t>التوزيع الجغرافي والاتجاه الشهري</a:t>
            </a:r>
            <a:endParaRPr lang="en-US" sz="2600" dirty="0"/>
          </a:p>
        </p:txBody>
      </p:sp>
      <p:sp>
        <p:nvSpPr>
          <p:cNvPr id="3" name="Shape 1"/>
          <p:cNvSpPr/>
          <p:nvPr/>
        </p:nvSpPr>
        <p:spPr>
          <a:xfrm>
            <a:off x="640080" y="1188720"/>
            <a:ext cx="10881360" cy="1828800"/>
          </a:xfrm>
          <a:prstGeom prst="roundRect">
            <a:avLst>
              <a:gd name="adj" fmla="val 5000"/>
            </a:avLst>
          </a:prstGeom>
          <a:solidFill>
            <a:srgbClr val="F7F7F7"/>
          </a:solidFill>
          <a:ln w="12700">
            <a:solidFill>
              <a:srgbClr val="E5E5E5"/>
            </a:solidFill>
            <a:prstDash val="solid"/>
          </a:ln>
        </p:spPr>
      </p:sp>
      <p:sp>
        <p:nvSpPr>
          <p:cNvPr id="4" name="Text 2"/>
          <p:cNvSpPr/>
          <p:nvPr/>
        </p:nvSpPr>
        <p:spPr>
          <a:xfrm>
            <a:off x="914400" y="1298448"/>
            <a:ext cx="10332720" cy="320040"/>
          </a:xfrm>
          <a:prstGeom prst="rect">
            <a:avLst/>
          </a:prstGeom>
          <a:noFill/>
          <a:ln/>
        </p:spPr>
        <p:txBody>
          <a:bodyPr wrap="square" rtlCol="0" anchor="ctr"/>
          <a:lstStyle/>
          <a:p>
            <a:pPr algn="r" indent="0" marL="0">
              <a:buNone/>
            </a:pPr>
            <a:r>
              <a:rPr lang="en-US" sz="1350" b="1" dirty="0">
                <a:solidFill>
                  <a:srgbClr val="D9720A"/>
                </a:solidFill>
                <a:latin typeface="Calibri" pitchFamily="34" charset="0"/>
                <a:ea typeface="Calibri" pitchFamily="34" charset="-122"/>
                <a:cs typeface="Calibri" pitchFamily="34" charset="-120"/>
              </a:rPr>
              <a:t>خريطة Total Sales by Region</a:t>
            </a:r>
            <a:endParaRPr lang="en-US" sz="1350" dirty="0"/>
          </a:p>
        </p:txBody>
      </p:sp>
      <p:sp>
        <p:nvSpPr>
          <p:cNvPr id="5" name="Text 3"/>
          <p:cNvSpPr/>
          <p:nvPr/>
        </p:nvSpPr>
        <p:spPr>
          <a:xfrm>
            <a:off x="914400" y="1627632"/>
            <a:ext cx="10332720" cy="1234440"/>
          </a:xfrm>
          <a:prstGeom prst="rect">
            <a:avLst/>
          </a:prstGeom>
          <a:noFill/>
          <a:ln/>
        </p:spPr>
        <p:txBody>
          <a:bodyPr wrap="square" rtlCol="0" anchor="ctr"/>
          <a:lstStyle/>
          <a:p>
            <a:pPr algn="r" indent="0" marL="0">
              <a:lnSpc>
                <a:spcPct val="130000"/>
              </a:lnSpc>
              <a:buNone/>
            </a:pPr>
            <a:r>
              <a:rPr lang="en-US" sz="1250" dirty="0">
                <a:solidFill>
                  <a:srgbClr val="1A1A1A"/>
                </a:solidFill>
                <a:latin typeface="Calibri" pitchFamily="34" charset="0"/>
                <a:ea typeface="Calibri" pitchFamily="34" charset="-122"/>
                <a:cs typeface="Calibri" pitchFamily="34" charset="-120"/>
              </a:rPr>
              <a:t>خريطة فقاعية (Bubble Map) بتوضح توزيع المبيعات جغرافيًا؛ حجم الفقاعة بيعبّر عن حجم المبيعات في كل نقطة، وده بيدي نظرة سريعة على أماكن التركّز الجغرافي للعملاء بدون الحاجة لقراءة أرقام تفصيلية.</a:t>
            </a:r>
            <a:endParaRPr lang="en-US" sz="1250" dirty="0"/>
          </a:p>
        </p:txBody>
      </p:sp>
      <p:sp>
        <p:nvSpPr>
          <p:cNvPr id="6" name="Shape 4"/>
          <p:cNvSpPr/>
          <p:nvPr/>
        </p:nvSpPr>
        <p:spPr>
          <a:xfrm>
            <a:off x="640080" y="3200400"/>
            <a:ext cx="10881360" cy="3063240"/>
          </a:xfrm>
          <a:prstGeom prst="roundRect">
            <a:avLst>
              <a:gd name="adj" fmla="val 2985"/>
            </a:avLst>
          </a:prstGeom>
          <a:solidFill>
            <a:srgbClr val="FFF3E6"/>
          </a:solidFill>
          <a:ln w="12700">
            <a:solidFill>
              <a:srgbClr val="F68B1E"/>
            </a:solidFill>
            <a:prstDash val="solid"/>
          </a:ln>
        </p:spPr>
      </p:sp>
      <p:sp>
        <p:nvSpPr>
          <p:cNvPr id="7" name="Text 5"/>
          <p:cNvSpPr/>
          <p:nvPr/>
        </p:nvSpPr>
        <p:spPr>
          <a:xfrm>
            <a:off x="914400" y="3310128"/>
            <a:ext cx="10332720" cy="320040"/>
          </a:xfrm>
          <a:prstGeom prst="rect">
            <a:avLst/>
          </a:prstGeom>
          <a:noFill/>
          <a:ln/>
        </p:spPr>
        <p:txBody>
          <a:bodyPr wrap="square" rtlCol="0" anchor="ctr"/>
          <a:lstStyle/>
          <a:p>
            <a:pPr algn="r" indent="0" marL="0">
              <a:buNone/>
            </a:pPr>
            <a:r>
              <a:rPr lang="en-US" sz="1350" b="1" dirty="0">
                <a:solidFill>
                  <a:srgbClr val="D9720A"/>
                </a:solidFill>
                <a:latin typeface="Calibri" pitchFamily="34" charset="0"/>
                <a:ea typeface="Calibri" pitchFamily="34" charset="-122"/>
                <a:cs typeface="Calibri" pitchFamily="34" charset="-120"/>
              </a:rPr>
              <a:t>Total Sales and Total Quantity by Month</a:t>
            </a:r>
            <a:endParaRPr lang="en-US" sz="1350" dirty="0"/>
          </a:p>
        </p:txBody>
      </p:sp>
      <p:sp>
        <p:nvSpPr>
          <p:cNvPr id="8" name="Text 6"/>
          <p:cNvSpPr/>
          <p:nvPr/>
        </p:nvSpPr>
        <p:spPr>
          <a:xfrm>
            <a:off x="914400" y="3639312"/>
            <a:ext cx="10332720" cy="1280160"/>
          </a:xfrm>
          <a:prstGeom prst="rect">
            <a:avLst/>
          </a:prstGeom>
          <a:noFill/>
          <a:ln/>
        </p:spPr>
        <p:txBody>
          <a:bodyPr wrap="square" rtlCol="0" anchor="ctr"/>
          <a:lstStyle/>
          <a:p>
            <a:pPr algn="r" indent="0" marL="0">
              <a:lnSpc>
                <a:spcPct val="130000"/>
              </a:lnSpc>
              <a:buNone/>
            </a:pPr>
            <a:r>
              <a:rPr lang="en-US" sz="1250" dirty="0">
                <a:solidFill>
                  <a:srgbClr val="1A1A1A"/>
                </a:solidFill>
                <a:latin typeface="Calibri" pitchFamily="34" charset="0"/>
                <a:ea typeface="Calibri" pitchFamily="34" charset="-122"/>
                <a:cs typeface="Calibri" pitchFamily="34" charset="-120"/>
              </a:rPr>
              <a:t>خط زمني بيتابع المبيعات والكمية المباعة شهريًا على مدار السنة، بيوضح نمط موسمية واضح: بداية هادئة في يناير وفبراير (95K و60K)، ارتفاع تدريجي وصولًا لقمة في سبتمبر (309K)، انخفاض مؤقت في أكتوبر (197K)، ثم قمة أعلى في نوفمبر (349K) مدفوعة على الأرجح بمواسم التخفيضات (Black Friday / نهاية العام).</a:t>
            </a:r>
            <a:endParaRPr lang="en-US" sz="1250" dirty="0"/>
          </a:p>
        </p:txBody>
      </p:sp>
      <p:sp>
        <p:nvSpPr>
          <p:cNvPr id="9" name="Text 7"/>
          <p:cNvSpPr/>
          <p:nvPr/>
        </p:nvSpPr>
        <p:spPr>
          <a:xfrm>
            <a:off x="914400" y="5029200"/>
            <a:ext cx="10332720" cy="1005840"/>
          </a:xfrm>
          <a:prstGeom prst="rect">
            <a:avLst/>
          </a:prstGeom>
          <a:noFill/>
          <a:ln/>
        </p:spPr>
        <p:txBody>
          <a:bodyPr wrap="square" rtlCol="0" anchor="ctr"/>
          <a:lstStyle/>
          <a:p>
            <a:pPr algn="r" indent="0" marL="0">
              <a:lnSpc>
                <a:spcPct val="130000"/>
              </a:lnSpc>
              <a:buNone/>
            </a:pPr>
            <a:r>
              <a:rPr lang="en-US" sz="1250" b="1" dirty="0">
                <a:solidFill>
                  <a:srgbClr val="1A1A1A"/>
                </a:solidFill>
                <a:latin typeface="Calibri" pitchFamily="34" charset="0"/>
                <a:ea typeface="Calibri" pitchFamily="34" charset="-122"/>
                <a:cs typeface="Calibri" pitchFamily="34" charset="-120"/>
              </a:rPr>
              <a:t>الدلالة التجارية: التخطيط للمخزون والحملات التسويقية يحتاج يستعد بدري لموسم Q4 (خصوصًا نوفمبر)، لأنه بيمثل نقطة الذروة في المبيعات على مدار العام.</a:t>
            </a:r>
            <a:endParaRPr lang="en-US" sz="1250" dirty="0"/>
          </a:p>
        </p:txBody>
      </p:sp>
      <p:sp>
        <p:nvSpPr>
          <p:cNvPr id="10" name="Text 8"/>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640080" y="502920"/>
            <a:ext cx="10881360" cy="548640"/>
          </a:xfrm>
          <a:prstGeom prst="rect">
            <a:avLst/>
          </a:prstGeom>
          <a:noFill/>
          <a:ln/>
        </p:spPr>
        <p:txBody>
          <a:bodyPr wrap="square" rtlCol="0" anchor="ctr"/>
          <a:lstStyle/>
          <a:p>
            <a:pPr algn="r" indent="0" marL="0">
              <a:buNone/>
            </a:pPr>
            <a:r>
              <a:rPr lang="en-US" sz="2800" b="1" dirty="0">
                <a:solidFill>
                  <a:srgbClr val="FFFFFF"/>
                </a:solidFill>
                <a:latin typeface="Cambria" pitchFamily="34" charset="0"/>
                <a:ea typeface="Cambria" pitchFamily="34" charset="-122"/>
                <a:cs typeface="Cambria" pitchFamily="34" charset="-120"/>
              </a:rPr>
              <a:t>لوحة الرؤى الرئيسية (Key Insights)</a:t>
            </a:r>
            <a:endParaRPr lang="en-US" sz="2800" dirty="0"/>
          </a:p>
        </p:txBody>
      </p:sp>
      <p:sp>
        <p:nvSpPr>
          <p:cNvPr id="3" name="Text 1"/>
          <p:cNvSpPr/>
          <p:nvPr/>
        </p:nvSpPr>
        <p:spPr>
          <a:xfrm>
            <a:off x="640080" y="1051560"/>
            <a:ext cx="10881360" cy="365760"/>
          </a:xfrm>
          <a:prstGeom prst="rect">
            <a:avLst/>
          </a:prstGeom>
          <a:noFill/>
          <a:ln/>
        </p:spPr>
        <p:txBody>
          <a:bodyPr wrap="square" rtlCol="0" anchor="ctr"/>
          <a:lstStyle/>
          <a:p>
            <a:pPr algn="r" indent="0" marL="0">
              <a:buNone/>
            </a:pPr>
            <a:r>
              <a:rPr lang="en-US" sz="1300" dirty="0">
                <a:solidFill>
                  <a:srgbClr val="B5B5B5"/>
                </a:solidFill>
                <a:latin typeface="Calibri" pitchFamily="34" charset="0"/>
                <a:ea typeface="Calibri" pitchFamily="34" charset="-122"/>
                <a:cs typeface="Calibri" pitchFamily="34" charset="-120"/>
              </a:rPr>
              <a:t>كما وردت في اللوحة الجانبية بالداشبورد</a:t>
            </a:r>
            <a:endParaRPr lang="en-US" sz="1300" dirty="0"/>
          </a:p>
        </p:txBody>
      </p:sp>
      <p:sp>
        <p:nvSpPr>
          <p:cNvPr id="4" name="Shape 2"/>
          <p:cNvSpPr/>
          <p:nvPr/>
        </p:nvSpPr>
        <p:spPr>
          <a:xfrm>
            <a:off x="640080" y="1691640"/>
            <a:ext cx="10881360" cy="914400"/>
          </a:xfrm>
          <a:prstGeom prst="roundRect">
            <a:avLst>
              <a:gd name="adj" fmla="val 8000"/>
            </a:avLst>
          </a:prstGeom>
          <a:solidFill>
            <a:srgbClr val="2B2B2B"/>
          </a:solidFill>
          <a:ln/>
        </p:spPr>
      </p:sp>
      <p:sp>
        <p:nvSpPr>
          <p:cNvPr id="5" name="Shape 3"/>
          <p:cNvSpPr/>
          <p:nvPr/>
        </p:nvSpPr>
        <p:spPr>
          <a:xfrm>
            <a:off x="9052560" y="1920240"/>
            <a:ext cx="2194560" cy="457200"/>
          </a:xfrm>
          <a:prstGeom prst="roundRect">
            <a:avLst>
              <a:gd name="adj" fmla="val 50000"/>
            </a:avLst>
          </a:prstGeom>
          <a:solidFill>
            <a:srgbClr val="F68B1E"/>
          </a:solidFill>
          <a:ln/>
        </p:spPr>
      </p:sp>
      <p:sp>
        <p:nvSpPr>
          <p:cNvPr id="6" name="Text 4"/>
          <p:cNvSpPr/>
          <p:nvPr/>
        </p:nvSpPr>
        <p:spPr>
          <a:xfrm>
            <a:off x="9052560" y="1920240"/>
            <a:ext cx="2194560" cy="45720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High Turnover</a:t>
            </a:r>
            <a:endParaRPr lang="en-US" sz="1150" dirty="0"/>
          </a:p>
        </p:txBody>
      </p:sp>
      <p:sp>
        <p:nvSpPr>
          <p:cNvPr id="7" name="Text 5"/>
          <p:cNvSpPr/>
          <p:nvPr/>
        </p:nvSpPr>
        <p:spPr>
          <a:xfrm>
            <a:off x="822960" y="1691640"/>
            <a:ext cx="8092440" cy="914400"/>
          </a:xfrm>
          <a:prstGeom prst="rect">
            <a:avLst/>
          </a:prstGeom>
          <a:noFill/>
          <a:ln/>
        </p:spPr>
        <p:txBody>
          <a:bodyPr wrap="square" rtlCol="0" anchor="ctr"/>
          <a:lstStyle/>
          <a:p>
            <a:pPr algn="r" indent="0" marL="0">
              <a:buNone/>
            </a:pPr>
            <a:r>
              <a:rPr lang="en-US" sz="1350" dirty="0">
                <a:solidFill>
                  <a:srgbClr val="FFFFFF"/>
                </a:solidFill>
                <a:latin typeface="Calibri" pitchFamily="34" charset="0"/>
                <a:ea typeface="Calibri" pitchFamily="34" charset="-122"/>
                <a:cs typeface="Calibri" pitchFamily="34" charset="-120"/>
              </a:rPr>
              <a:t>معدل دوران موظفين 15% في قسم المبيعات.</a:t>
            </a:r>
            <a:endParaRPr lang="en-US" sz="1350" dirty="0"/>
          </a:p>
        </p:txBody>
      </p:sp>
      <p:sp>
        <p:nvSpPr>
          <p:cNvPr id="8" name="Shape 6"/>
          <p:cNvSpPr/>
          <p:nvPr/>
        </p:nvSpPr>
        <p:spPr>
          <a:xfrm>
            <a:off x="640080" y="2743200"/>
            <a:ext cx="10881360" cy="914400"/>
          </a:xfrm>
          <a:prstGeom prst="roundRect">
            <a:avLst>
              <a:gd name="adj" fmla="val 8000"/>
            </a:avLst>
          </a:prstGeom>
          <a:solidFill>
            <a:srgbClr val="2B2B2B"/>
          </a:solidFill>
          <a:ln/>
        </p:spPr>
      </p:sp>
      <p:sp>
        <p:nvSpPr>
          <p:cNvPr id="9" name="Shape 7"/>
          <p:cNvSpPr/>
          <p:nvPr/>
        </p:nvSpPr>
        <p:spPr>
          <a:xfrm>
            <a:off x="9052560" y="2971800"/>
            <a:ext cx="2194560" cy="457200"/>
          </a:xfrm>
          <a:prstGeom prst="roundRect">
            <a:avLst>
              <a:gd name="adj" fmla="val 50000"/>
            </a:avLst>
          </a:prstGeom>
          <a:solidFill>
            <a:srgbClr val="F68B1E"/>
          </a:solidFill>
          <a:ln/>
        </p:spPr>
      </p:sp>
      <p:sp>
        <p:nvSpPr>
          <p:cNvPr id="10" name="Text 8"/>
          <p:cNvSpPr/>
          <p:nvPr/>
        </p:nvSpPr>
        <p:spPr>
          <a:xfrm>
            <a:off x="9052560" y="2971800"/>
            <a:ext cx="2194560" cy="45720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Top Performance</a:t>
            </a:r>
            <a:endParaRPr lang="en-US" sz="1150" dirty="0"/>
          </a:p>
        </p:txBody>
      </p:sp>
      <p:sp>
        <p:nvSpPr>
          <p:cNvPr id="11" name="Text 9"/>
          <p:cNvSpPr/>
          <p:nvPr/>
        </p:nvSpPr>
        <p:spPr>
          <a:xfrm>
            <a:off x="822960" y="2743200"/>
            <a:ext cx="8092440" cy="914400"/>
          </a:xfrm>
          <a:prstGeom prst="rect">
            <a:avLst/>
          </a:prstGeom>
          <a:noFill/>
          <a:ln/>
        </p:spPr>
        <p:txBody>
          <a:bodyPr wrap="square" rtlCol="0" anchor="ctr"/>
          <a:lstStyle/>
          <a:p>
            <a:pPr algn="r" indent="0" marL="0">
              <a:buNone/>
            </a:pPr>
            <a:r>
              <a:rPr lang="en-US" sz="1350" dirty="0">
                <a:solidFill>
                  <a:srgbClr val="FFFFFF"/>
                </a:solidFill>
                <a:latin typeface="Calibri" pitchFamily="34" charset="0"/>
                <a:ea typeface="Calibri" pitchFamily="34" charset="-122"/>
                <a:cs typeface="Calibri" pitchFamily="34" charset="-120"/>
              </a:rPr>
              <a:t>قسم التسويق تجاوز مؤشرات الأداء (KPIs) المستهدفة بنسبة 10%.</a:t>
            </a:r>
            <a:endParaRPr lang="en-US" sz="1350" dirty="0"/>
          </a:p>
        </p:txBody>
      </p:sp>
      <p:sp>
        <p:nvSpPr>
          <p:cNvPr id="12" name="Shape 10"/>
          <p:cNvSpPr/>
          <p:nvPr/>
        </p:nvSpPr>
        <p:spPr>
          <a:xfrm>
            <a:off x="640080" y="3794760"/>
            <a:ext cx="10881360" cy="914400"/>
          </a:xfrm>
          <a:prstGeom prst="roundRect">
            <a:avLst>
              <a:gd name="adj" fmla="val 8000"/>
            </a:avLst>
          </a:prstGeom>
          <a:solidFill>
            <a:srgbClr val="2B2B2B"/>
          </a:solidFill>
          <a:ln/>
        </p:spPr>
      </p:sp>
      <p:sp>
        <p:nvSpPr>
          <p:cNvPr id="13" name="Shape 11"/>
          <p:cNvSpPr/>
          <p:nvPr/>
        </p:nvSpPr>
        <p:spPr>
          <a:xfrm>
            <a:off x="9052560" y="4023360"/>
            <a:ext cx="2194560" cy="457200"/>
          </a:xfrm>
          <a:prstGeom prst="roundRect">
            <a:avLst>
              <a:gd name="adj" fmla="val 50000"/>
            </a:avLst>
          </a:prstGeom>
          <a:solidFill>
            <a:srgbClr val="F68B1E"/>
          </a:solidFill>
          <a:ln/>
        </p:spPr>
      </p:sp>
      <p:sp>
        <p:nvSpPr>
          <p:cNvPr id="14" name="Text 12"/>
          <p:cNvSpPr/>
          <p:nvPr/>
        </p:nvSpPr>
        <p:spPr>
          <a:xfrm>
            <a:off x="9052560" y="4023360"/>
            <a:ext cx="2194560" cy="45720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Hiring Trend</a:t>
            </a:r>
            <a:endParaRPr lang="en-US" sz="1150" dirty="0"/>
          </a:p>
        </p:txBody>
      </p:sp>
      <p:sp>
        <p:nvSpPr>
          <p:cNvPr id="15" name="Text 13"/>
          <p:cNvSpPr/>
          <p:nvPr/>
        </p:nvSpPr>
        <p:spPr>
          <a:xfrm>
            <a:off x="822960" y="3794760"/>
            <a:ext cx="8092440" cy="914400"/>
          </a:xfrm>
          <a:prstGeom prst="rect">
            <a:avLst/>
          </a:prstGeom>
          <a:noFill/>
          <a:ln/>
        </p:spPr>
        <p:txBody>
          <a:bodyPr wrap="square" rtlCol="0" anchor="ctr"/>
          <a:lstStyle/>
          <a:p>
            <a:pPr algn="r" indent="0" marL="0">
              <a:buNone/>
            </a:pPr>
            <a:r>
              <a:rPr lang="en-US" sz="1350" dirty="0">
                <a:solidFill>
                  <a:srgbClr val="FFFFFF"/>
                </a:solidFill>
                <a:latin typeface="Calibri" pitchFamily="34" charset="0"/>
                <a:ea typeface="Calibri" pitchFamily="34" charset="-122"/>
                <a:cs typeface="Calibri" pitchFamily="34" charset="-120"/>
              </a:rPr>
              <a:t>تعيين 50 موظف جديد خلال الربع الثاني (Q2).</a:t>
            </a:r>
            <a:endParaRPr lang="en-US" sz="1350" dirty="0"/>
          </a:p>
        </p:txBody>
      </p:sp>
      <p:sp>
        <p:nvSpPr>
          <p:cNvPr id="16" name="Shape 14"/>
          <p:cNvSpPr/>
          <p:nvPr/>
        </p:nvSpPr>
        <p:spPr>
          <a:xfrm>
            <a:off x="640080" y="4846320"/>
            <a:ext cx="10881360" cy="914400"/>
          </a:xfrm>
          <a:prstGeom prst="roundRect">
            <a:avLst>
              <a:gd name="adj" fmla="val 8000"/>
            </a:avLst>
          </a:prstGeom>
          <a:solidFill>
            <a:srgbClr val="2B2B2B"/>
          </a:solidFill>
          <a:ln/>
        </p:spPr>
      </p:sp>
      <p:sp>
        <p:nvSpPr>
          <p:cNvPr id="17" name="Shape 15"/>
          <p:cNvSpPr/>
          <p:nvPr/>
        </p:nvSpPr>
        <p:spPr>
          <a:xfrm>
            <a:off x="9052560" y="5074920"/>
            <a:ext cx="2194560" cy="457200"/>
          </a:xfrm>
          <a:prstGeom prst="roundRect">
            <a:avLst>
              <a:gd name="adj" fmla="val 50000"/>
            </a:avLst>
          </a:prstGeom>
          <a:solidFill>
            <a:srgbClr val="F68B1E"/>
          </a:solidFill>
          <a:ln/>
        </p:spPr>
      </p:sp>
      <p:sp>
        <p:nvSpPr>
          <p:cNvPr id="18" name="Text 16"/>
          <p:cNvSpPr/>
          <p:nvPr/>
        </p:nvSpPr>
        <p:spPr>
          <a:xfrm>
            <a:off x="9052560" y="5074920"/>
            <a:ext cx="2194560" cy="45720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Avg Salary</a:t>
            </a:r>
            <a:endParaRPr lang="en-US" sz="1150" dirty="0"/>
          </a:p>
        </p:txBody>
      </p:sp>
      <p:sp>
        <p:nvSpPr>
          <p:cNvPr id="19" name="Text 17"/>
          <p:cNvSpPr/>
          <p:nvPr/>
        </p:nvSpPr>
        <p:spPr>
          <a:xfrm>
            <a:off x="822960" y="4846320"/>
            <a:ext cx="8092440" cy="914400"/>
          </a:xfrm>
          <a:prstGeom prst="rect">
            <a:avLst/>
          </a:prstGeom>
          <a:noFill/>
          <a:ln/>
        </p:spPr>
        <p:txBody>
          <a:bodyPr wrap="square" rtlCol="0" anchor="ctr"/>
          <a:lstStyle/>
          <a:p>
            <a:pPr algn="r" indent="0" marL="0">
              <a:buNone/>
            </a:pPr>
            <a:r>
              <a:rPr lang="en-US" sz="1350" dirty="0">
                <a:solidFill>
                  <a:srgbClr val="FFFFFF"/>
                </a:solidFill>
                <a:latin typeface="Calibri" pitchFamily="34" charset="0"/>
                <a:ea typeface="Calibri" pitchFamily="34" charset="-122"/>
                <a:cs typeface="Calibri" pitchFamily="34" charset="-120"/>
              </a:rPr>
              <a:t>ارتفاع تنافسي في متوسط الرواتب بنسبة 5%.</a:t>
            </a:r>
            <a:endParaRPr lang="en-US" sz="1350" dirty="0"/>
          </a:p>
        </p:txBody>
      </p:sp>
      <p:sp>
        <p:nvSpPr>
          <p:cNvPr id="20" name="Text 18"/>
          <p:cNvSpPr/>
          <p:nvPr/>
        </p:nvSpPr>
        <p:spPr>
          <a:xfrm>
            <a:off x="640080" y="5989320"/>
            <a:ext cx="10881360" cy="457200"/>
          </a:xfrm>
          <a:prstGeom prst="rect">
            <a:avLst/>
          </a:prstGeom>
          <a:noFill/>
          <a:ln/>
        </p:spPr>
        <p:txBody>
          <a:bodyPr wrap="square" rtlCol="0" anchor="ctr"/>
          <a:lstStyle/>
          <a:p>
            <a:pPr algn="r" indent="0" marL="0">
              <a:buNone/>
            </a:pPr>
            <a:r>
              <a:rPr lang="en-US" sz="1050" i="1" dirty="0">
                <a:solidFill>
                  <a:srgbClr val="9A9A9A"/>
                </a:solidFill>
                <a:latin typeface="Calibri" pitchFamily="34" charset="0"/>
                <a:ea typeface="Calibri" pitchFamily="34" charset="-122"/>
                <a:cs typeface="Calibri" pitchFamily="34" charset="-120"/>
              </a:rPr>
              <a:t>ملحوظة: الرؤى دي ظاهرة في اللوحة الجانبية للداشبورد الأصلي كـ Key Insights عامة، بتكمّل الصورة التشغيلية جنب أرقام المبيعات.</a:t>
            </a:r>
            <a:endParaRPr lang="en-US" sz="1050" dirty="0"/>
          </a:p>
        </p:txBody>
      </p:sp>
      <p:sp>
        <p:nvSpPr>
          <p:cNvPr id="21" name="Text 19"/>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22" name="Text 20"/>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algn="r" indent="0" marL="0">
              <a:buNone/>
            </a:pPr>
            <a:r>
              <a:rPr lang="en-US" sz="2800" b="1" dirty="0">
                <a:solidFill>
                  <a:srgbClr val="1A1A1A"/>
                </a:solidFill>
                <a:latin typeface="Cambria" pitchFamily="34" charset="0"/>
                <a:ea typeface="Cambria" pitchFamily="34" charset="-122"/>
                <a:cs typeface="Cambria" pitchFamily="34" charset="-120"/>
              </a:rPr>
              <a:t>الأدوات والمهارات المستخدمة</a:t>
            </a:r>
            <a:endParaRPr lang="en-US" sz="2800" dirty="0"/>
          </a:p>
        </p:txBody>
      </p:sp>
      <p:sp>
        <p:nvSpPr>
          <p:cNvPr id="3" name="Shape 1"/>
          <p:cNvSpPr/>
          <p:nvPr/>
        </p:nvSpPr>
        <p:spPr>
          <a:xfrm>
            <a:off x="640080" y="1371600"/>
            <a:ext cx="2578608" cy="3017520"/>
          </a:xfrm>
          <a:prstGeom prst="roundRect">
            <a:avLst>
              <a:gd name="adj" fmla="val 2837"/>
            </a:avLst>
          </a:prstGeom>
          <a:solidFill>
            <a:srgbClr val="F7F7F7"/>
          </a:solidFill>
          <a:ln w="12700">
            <a:solidFill>
              <a:srgbClr val="E5E5E5"/>
            </a:solidFill>
            <a:prstDash val="solid"/>
          </a:ln>
        </p:spPr>
      </p:sp>
      <p:sp>
        <p:nvSpPr>
          <p:cNvPr id="4" name="Shape 2"/>
          <p:cNvSpPr/>
          <p:nvPr/>
        </p:nvSpPr>
        <p:spPr>
          <a:xfrm>
            <a:off x="640080" y="1371600"/>
            <a:ext cx="2578608" cy="548640"/>
          </a:xfrm>
          <a:prstGeom prst="roundRect">
            <a:avLst>
              <a:gd name="adj" fmla="val 13333"/>
            </a:avLst>
          </a:prstGeom>
          <a:solidFill>
            <a:srgbClr val="F68B1E"/>
          </a:solidFill>
          <a:ln/>
        </p:spPr>
      </p:sp>
      <p:sp>
        <p:nvSpPr>
          <p:cNvPr id="5" name="Text 3"/>
          <p:cNvSpPr/>
          <p:nvPr/>
        </p:nvSpPr>
        <p:spPr>
          <a:xfrm>
            <a:off x="640080" y="1371600"/>
            <a:ext cx="2578608" cy="548640"/>
          </a:xfrm>
          <a:prstGeom prst="rect">
            <a:avLst/>
          </a:prstGeom>
          <a:noFill/>
          <a:ln/>
        </p:spPr>
        <p:txBody>
          <a:bodyPr wrap="square"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Data Preparation</a:t>
            </a:r>
            <a:endParaRPr lang="en-US" sz="1300" dirty="0"/>
          </a:p>
        </p:txBody>
      </p:sp>
      <p:sp>
        <p:nvSpPr>
          <p:cNvPr id="6" name="Text 4"/>
          <p:cNvSpPr/>
          <p:nvPr/>
        </p:nvSpPr>
        <p:spPr>
          <a:xfrm>
            <a:off x="777240" y="2103120"/>
            <a:ext cx="2304288" cy="2194560"/>
          </a:xfrm>
          <a:prstGeom prst="rect">
            <a:avLst/>
          </a:prstGeom>
          <a:noFill/>
          <a:ln/>
        </p:spPr>
        <p:txBody>
          <a:bodyPr wrap="square" rtlCol="0" anchor="ctr"/>
          <a:lstStyle/>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Power Query</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Data Cleaning</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Data Transformation</a:t>
            </a:r>
            <a:endParaRPr lang="en-US" sz="1150" dirty="0"/>
          </a:p>
        </p:txBody>
      </p:sp>
      <p:sp>
        <p:nvSpPr>
          <p:cNvPr id="7" name="Shape 5"/>
          <p:cNvSpPr/>
          <p:nvPr/>
        </p:nvSpPr>
        <p:spPr>
          <a:xfrm>
            <a:off x="3355848" y="1371600"/>
            <a:ext cx="2578608" cy="3017520"/>
          </a:xfrm>
          <a:prstGeom prst="roundRect">
            <a:avLst>
              <a:gd name="adj" fmla="val 2837"/>
            </a:avLst>
          </a:prstGeom>
          <a:solidFill>
            <a:srgbClr val="F7F7F7"/>
          </a:solidFill>
          <a:ln w="12700">
            <a:solidFill>
              <a:srgbClr val="E5E5E5"/>
            </a:solidFill>
            <a:prstDash val="solid"/>
          </a:ln>
        </p:spPr>
      </p:sp>
      <p:sp>
        <p:nvSpPr>
          <p:cNvPr id="8" name="Shape 6"/>
          <p:cNvSpPr/>
          <p:nvPr/>
        </p:nvSpPr>
        <p:spPr>
          <a:xfrm>
            <a:off x="3355848" y="1371600"/>
            <a:ext cx="2578608" cy="548640"/>
          </a:xfrm>
          <a:prstGeom prst="roundRect">
            <a:avLst>
              <a:gd name="adj" fmla="val 13333"/>
            </a:avLst>
          </a:prstGeom>
          <a:solidFill>
            <a:srgbClr val="F68B1E"/>
          </a:solidFill>
          <a:ln/>
        </p:spPr>
      </p:sp>
      <p:sp>
        <p:nvSpPr>
          <p:cNvPr id="9" name="Text 7"/>
          <p:cNvSpPr/>
          <p:nvPr/>
        </p:nvSpPr>
        <p:spPr>
          <a:xfrm>
            <a:off x="3355848" y="1371600"/>
            <a:ext cx="2578608" cy="548640"/>
          </a:xfrm>
          <a:prstGeom prst="rect">
            <a:avLst/>
          </a:prstGeom>
          <a:noFill/>
          <a:ln/>
        </p:spPr>
        <p:txBody>
          <a:bodyPr wrap="square"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Data Modeling</a:t>
            </a:r>
            <a:endParaRPr lang="en-US" sz="1300" dirty="0"/>
          </a:p>
        </p:txBody>
      </p:sp>
      <p:sp>
        <p:nvSpPr>
          <p:cNvPr id="10" name="Text 8"/>
          <p:cNvSpPr/>
          <p:nvPr/>
        </p:nvSpPr>
        <p:spPr>
          <a:xfrm>
            <a:off x="3493008" y="2103120"/>
            <a:ext cx="2304288" cy="2194560"/>
          </a:xfrm>
          <a:prstGeom prst="rect">
            <a:avLst/>
          </a:prstGeom>
          <a:noFill/>
          <a:ln/>
        </p:spPr>
        <p:txBody>
          <a:bodyPr wrap="square" rtlCol="0" anchor="ctr"/>
          <a:lstStyle/>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Star Schema Design</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Relationships (1:M)</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Fact &amp; Dimension Tables</a:t>
            </a:r>
            <a:endParaRPr lang="en-US" sz="1150" dirty="0"/>
          </a:p>
        </p:txBody>
      </p:sp>
      <p:sp>
        <p:nvSpPr>
          <p:cNvPr id="11" name="Shape 9"/>
          <p:cNvSpPr/>
          <p:nvPr/>
        </p:nvSpPr>
        <p:spPr>
          <a:xfrm>
            <a:off x="6071616" y="1371600"/>
            <a:ext cx="2578608" cy="3017520"/>
          </a:xfrm>
          <a:prstGeom prst="roundRect">
            <a:avLst>
              <a:gd name="adj" fmla="val 2837"/>
            </a:avLst>
          </a:prstGeom>
          <a:solidFill>
            <a:srgbClr val="F7F7F7"/>
          </a:solidFill>
          <a:ln w="12700">
            <a:solidFill>
              <a:srgbClr val="E5E5E5"/>
            </a:solidFill>
            <a:prstDash val="solid"/>
          </a:ln>
        </p:spPr>
      </p:sp>
      <p:sp>
        <p:nvSpPr>
          <p:cNvPr id="12" name="Shape 10"/>
          <p:cNvSpPr/>
          <p:nvPr/>
        </p:nvSpPr>
        <p:spPr>
          <a:xfrm>
            <a:off x="6071616" y="1371600"/>
            <a:ext cx="2578608" cy="548640"/>
          </a:xfrm>
          <a:prstGeom prst="roundRect">
            <a:avLst>
              <a:gd name="adj" fmla="val 13333"/>
            </a:avLst>
          </a:prstGeom>
          <a:solidFill>
            <a:srgbClr val="F68B1E"/>
          </a:solidFill>
          <a:ln/>
        </p:spPr>
      </p:sp>
      <p:sp>
        <p:nvSpPr>
          <p:cNvPr id="13" name="Text 11"/>
          <p:cNvSpPr/>
          <p:nvPr/>
        </p:nvSpPr>
        <p:spPr>
          <a:xfrm>
            <a:off x="6071616" y="1371600"/>
            <a:ext cx="2578608" cy="548640"/>
          </a:xfrm>
          <a:prstGeom prst="rect">
            <a:avLst/>
          </a:prstGeom>
          <a:noFill/>
          <a:ln/>
        </p:spPr>
        <p:txBody>
          <a:bodyPr wrap="square"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Analysis &amp; DAX</a:t>
            </a:r>
            <a:endParaRPr lang="en-US" sz="1300" dirty="0"/>
          </a:p>
        </p:txBody>
      </p:sp>
      <p:sp>
        <p:nvSpPr>
          <p:cNvPr id="14" name="Text 12"/>
          <p:cNvSpPr/>
          <p:nvPr/>
        </p:nvSpPr>
        <p:spPr>
          <a:xfrm>
            <a:off x="6208776" y="2103120"/>
            <a:ext cx="2304288" cy="2194560"/>
          </a:xfrm>
          <a:prstGeom prst="rect">
            <a:avLst/>
          </a:prstGeom>
          <a:noFill/>
          <a:ln/>
        </p:spPr>
        <p:txBody>
          <a:bodyPr wrap="square" rtlCol="0" anchor="ctr"/>
          <a:lstStyle/>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Measures &amp; KPIs</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Time Intelligence</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Ratio &amp; % Calculations</a:t>
            </a:r>
            <a:endParaRPr lang="en-US" sz="1150" dirty="0"/>
          </a:p>
        </p:txBody>
      </p:sp>
      <p:sp>
        <p:nvSpPr>
          <p:cNvPr id="15" name="Shape 13"/>
          <p:cNvSpPr/>
          <p:nvPr/>
        </p:nvSpPr>
        <p:spPr>
          <a:xfrm>
            <a:off x="8787384" y="1371600"/>
            <a:ext cx="2578608" cy="3017520"/>
          </a:xfrm>
          <a:prstGeom prst="roundRect">
            <a:avLst>
              <a:gd name="adj" fmla="val 2837"/>
            </a:avLst>
          </a:prstGeom>
          <a:solidFill>
            <a:srgbClr val="F7F7F7"/>
          </a:solidFill>
          <a:ln w="12700">
            <a:solidFill>
              <a:srgbClr val="E5E5E5"/>
            </a:solidFill>
            <a:prstDash val="solid"/>
          </a:ln>
        </p:spPr>
      </p:sp>
      <p:sp>
        <p:nvSpPr>
          <p:cNvPr id="16" name="Shape 14"/>
          <p:cNvSpPr/>
          <p:nvPr/>
        </p:nvSpPr>
        <p:spPr>
          <a:xfrm>
            <a:off x="8787384" y="1371600"/>
            <a:ext cx="2578608" cy="548640"/>
          </a:xfrm>
          <a:prstGeom prst="roundRect">
            <a:avLst>
              <a:gd name="adj" fmla="val 13333"/>
            </a:avLst>
          </a:prstGeom>
          <a:solidFill>
            <a:srgbClr val="F68B1E"/>
          </a:solidFill>
          <a:ln/>
        </p:spPr>
      </p:sp>
      <p:sp>
        <p:nvSpPr>
          <p:cNvPr id="17" name="Text 15"/>
          <p:cNvSpPr/>
          <p:nvPr/>
        </p:nvSpPr>
        <p:spPr>
          <a:xfrm>
            <a:off x="8787384" y="1371600"/>
            <a:ext cx="2578608" cy="548640"/>
          </a:xfrm>
          <a:prstGeom prst="rect">
            <a:avLst/>
          </a:prstGeom>
          <a:noFill/>
          <a:ln/>
        </p:spPr>
        <p:txBody>
          <a:bodyPr wrap="square"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Visualization &amp; UX</a:t>
            </a:r>
            <a:endParaRPr lang="en-US" sz="1300" dirty="0"/>
          </a:p>
        </p:txBody>
      </p:sp>
      <p:sp>
        <p:nvSpPr>
          <p:cNvPr id="18" name="Text 16"/>
          <p:cNvSpPr/>
          <p:nvPr/>
        </p:nvSpPr>
        <p:spPr>
          <a:xfrm>
            <a:off x="8924544" y="2103120"/>
            <a:ext cx="2304288" cy="2194560"/>
          </a:xfrm>
          <a:prstGeom prst="rect">
            <a:avLst/>
          </a:prstGeom>
          <a:noFill/>
          <a:ln/>
        </p:spPr>
        <p:txBody>
          <a:bodyPr wrap="square" rtlCol="0" anchor="ctr"/>
          <a:lstStyle/>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Interactive Filters/Slicers</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Combo &amp; Map Visuals</a:t>
            </a:r>
            <a:endParaRPr lang="en-US" sz="1150" dirty="0"/>
          </a:p>
          <a:p>
            <a:pPr algn="l" indent="0" marL="0">
              <a:lnSpc>
                <a:spcPct val="130000"/>
              </a:lnSpc>
              <a:buNone/>
            </a:pPr>
            <a:endParaRPr lang="en-US" sz="1150" dirty="0"/>
          </a:p>
          <a:p>
            <a:pPr algn="l" indent="0" marL="0">
              <a:lnSpc>
                <a:spcPct val="130000"/>
              </a:lnSpc>
              <a:buNone/>
            </a:pPr>
            <a:r>
              <a:rPr lang="en-US" sz="1150" dirty="0">
                <a:solidFill>
                  <a:srgbClr val="1A1A1A"/>
                </a:solidFill>
                <a:latin typeface="Calibri" pitchFamily="34" charset="0"/>
                <a:ea typeface="Calibri" pitchFamily="34" charset="-122"/>
                <a:cs typeface="Calibri" pitchFamily="34" charset="-120"/>
              </a:rPr>
              <a:t>• Dashboard Layout Design</a:t>
            </a:r>
            <a:endParaRPr lang="en-US" sz="1150" dirty="0"/>
          </a:p>
        </p:txBody>
      </p:sp>
      <p:sp>
        <p:nvSpPr>
          <p:cNvPr id="19" name="Shape 17"/>
          <p:cNvSpPr/>
          <p:nvPr/>
        </p:nvSpPr>
        <p:spPr>
          <a:xfrm>
            <a:off x="640080" y="4617720"/>
            <a:ext cx="10881360" cy="1554480"/>
          </a:xfrm>
          <a:prstGeom prst="roundRect">
            <a:avLst>
              <a:gd name="adj" fmla="val 5882"/>
            </a:avLst>
          </a:prstGeom>
          <a:solidFill>
            <a:srgbClr val="1A1A1A"/>
          </a:solidFill>
          <a:ln/>
        </p:spPr>
      </p:sp>
      <p:sp>
        <p:nvSpPr>
          <p:cNvPr id="20" name="Text 18"/>
          <p:cNvSpPr/>
          <p:nvPr/>
        </p:nvSpPr>
        <p:spPr>
          <a:xfrm>
            <a:off x="914400" y="4754880"/>
            <a:ext cx="10332720" cy="320040"/>
          </a:xfrm>
          <a:prstGeom prst="rect">
            <a:avLst/>
          </a:prstGeom>
          <a:noFill/>
          <a:ln/>
        </p:spPr>
        <p:txBody>
          <a:bodyPr wrap="square" rtlCol="0" anchor="ctr"/>
          <a:lstStyle/>
          <a:p>
            <a:pPr algn="r" indent="0" marL="0">
              <a:buNone/>
            </a:pPr>
            <a:r>
              <a:rPr lang="en-US" sz="1350" b="1" dirty="0">
                <a:solidFill>
                  <a:srgbClr val="F68B1E"/>
                </a:solidFill>
                <a:latin typeface="Calibri" pitchFamily="34" charset="0"/>
                <a:ea typeface="Calibri" pitchFamily="34" charset="-122"/>
                <a:cs typeface="Calibri" pitchFamily="34" charset="-120"/>
              </a:rPr>
              <a:t>القيمة التحليلية المضافة</a:t>
            </a:r>
            <a:endParaRPr lang="en-US" sz="1350" dirty="0"/>
          </a:p>
        </p:txBody>
      </p:sp>
      <p:sp>
        <p:nvSpPr>
          <p:cNvPr id="21" name="Text 19"/>
          <p:cNvSpPr/>
          <p:nvPr/>
        </p:nvSpPr>
        <p:spPr>
          <a:xfrm>
            <a:off x="914400" y="5074920"/>
            <a:ext cx="10332720" cy="1005840"/>
          </a:xfrm>
          <a:prstGeom prst="rect">
            <a:avLst/>
          </a:prstGeom>
          <a:noFill/>
          <a:ln/>
        </p:spPr>
        <p:txBody>
          <a:bodyPr wrap="square" rtlCol="0" anchor="ctr"/>
          <a:lstStyle/>
          <a:p>
            <a:pPr algn="r" indent="0" marL="0">
              <a:lnSpc>
                <a:spcPct val="135000"/>
              </a:lnSpc>
              <a:buNone/>
            </a:pPr>
            <a:r>
              <a:rPr lang="en-US" sz="1250" dirty="0">
                <a:solidFill>
                  <a:srgbClr val="FFFFFF"/>
                </a:solidFill>
                <a:latin typeface="Calibri" pitchFamily="34" charset="0"/>
                <a:ea typeface="Calibri" pitchFamily="34" charset="-122"/>
                <a:cs typeface="Calibri" pitchFamily="34" charset="-120"/>
              </a:rPr>
              <a:t>الداشبورد بيحوّل بيانات مبيعات خام لقرارات عملية: تحديد المناطق والفئات الأعلى ربحية، رصد الموسمية عشان التخطيط للمخزون والحملات، ومتابعة الأداء لحظيًا بفلاتر تفاعلية بدل التقارير الثابتة.</a:t>
            </a:r>
            <a:endParaRPr lang="en-US" sz="1250" dirty="0"/>
          </a:p>
        </p:txBody>
      </p:sp>
      <p:sp>
        <p:nvSpPr>
          <p:cNvPr id="22" name="Text 20"/>
          <p:cNvSpPr/>
          <p:nvPr/>
        </p:nvSpPr>
        <p:spPr>
          <a:xfrm>
            <a:off x="457200" y="6537960"/>
            <a:ext cx="8686800" cy="274320"/>
          </a:xfrm>
          <a:prstGeom prst="rect">
            <a:avLst/>
          </a:prstGeom>
          <a:noFill/>
          <a:ln/>
        </p:spPr>
        <p:txBody>
          <a:bodyPr wrap="square" rtlCol="0" anchor="ctr"/>
          <a:lstStyle/>
          <a:p>
            <a:pPr indent="0" marL="0">
              <a:buNone/>
            </a:pPr>
            <a:r>
              <a:rPr lang="en-US" sz="900" dirty="0">
                <a:solidFill>
                  <a:srgbClr val="5A5A5A"/>
                </a:solidFill>
                <a:latin typeface="Calibri" pitchFamily="34" charset="0"/>
                <a:ea typeface="Calibri" pitchFamily="34" charset="-122"/>
                <a:cs typeface="Calibri" pitchFamily="34" charset="-120"/>
              </a:rPr>
              <a:t>Jumia Performance Dashboard  |  Power BI Case Study  |  Sameh El-Hosary</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68B1E"/>
          </a:solidFill>
          <a:ln/>
        </p:spPr>
      </p:sp>
      <p:sp>
        <p:nvSpPr>
          <p:cNvPr id="3" name="Text 1"/>
          <p:cNvSpPr/>
          <p:nvPr/>
        </p:nvSpPr>
        <p:spPr>
          <a:xfrm>
            <a:off x="822960" y="2011680"/>
            <a:ext cx="10332720" cy="731520"/>
          </a:xfrm>
          <a:prstGeom prst="rect">
            <a:avLst/>
          </a:prstGeom>
          <a:noFill/>
          <a:ln/>
        </p:spPr>
        <p:txBody>
          <a:bodyPr wrap="square" rtlCol="0" anchor="ctr"/>
          <a:lstStyle/>
          <a:p>
            <a:pPr algn="r" indent="0" marL="0">
              <a:buNone/>
            </a:pPr>
            <a:r>
              <a:rPr lang="en-US" sz="3400" b="1" dirty="0">
                <a:solidFill>
                  <a:srgbClr val="FFFFFF"/>
                </a:solidFill>
                <a:latin typeface="Cambria" pitchFamily="34" charset="0"/>
                <a:ea typeface="Cambria" pitchFamily="34" charset="-122"/>
                <a:cs typeface="Cambria" pitchFamily="34" charset="-120"/>
              </a:rPr>
              <a:t>شكرًا لاهتمامكم</a:t>
            </a:r>
            <a:endParaRPr lang="en-US" sz="3400" dirty="0"/>
          </a:p>
        </p:txBody>
      </p:sp>
      <p:sp>
        <p:nvSpPr>
          <p:cNvPr id="4" name="Text 2"/>
          <p:cNvSpPr/>
          <p:nvPr/>
        </p:nvSpPr>
        <p:spPr>
          <a:xfrm>
            <a:off x="822960" y="2697480"/>
            <a:ext cx="10332720" cy="457200"/>
          </a:xfrm>
          <a:prstGeom prst="rect">
            <a:avLst/>
          </a:prstGeom>
          <a:noFill/>
          <a:ln/>
        </p:spPr>
        <p:txBody>
          <a:bodyPr wrap="square" rtlCol="0" anchor="ctr"/>
          <a:lstStyle/>
          <a:p>
            <a:pPr algn="r" indent="0" marL="0">
              <a:buNone/>
            </a:pPr>
            <a:r>
              <a:rPr lang="en-US" sz="1600" dirty="0">
                <a:solidFill>
                  <a:srgbClr val="F68B1E"/>
                </a:solidFill>
                <a:latin typeface="Calibri" pitchFamily="34" charset="0"/>
                <a:ea typeface="Calibri" pitchFamily="34" charset="-122"/>
                <a:cs typeface="Calibri" pitchFamily="34" charset="-120"/>
              </a:rPr>
              <a:t>Thank You</a:t>
            </a:r>
            <a:endParaRPr lang="en-US" sz="1600" dirty="0"/>
          </a:p>
        </p:txBody>
      </p:sp>
      <p:sp>
        <p:nvSpPr>
          <p:cNvPr id="5" name="Shape 3"/>
          <p:cNvSpPr/>
          <p:nvPr/>
        </p:nvSpPr>
        <p:spPr>
          <a:xfrm>
            <a:off x="822960" y="3383280"/>
            <a:ext cx="10332720" cy="0"/>
          </a:xfrm>
          <a:prstGeom prst="line">
            <a:avLst/>
          </a:prstGeom>
          <a:noFill/>
          <a:ln w="12700">
            <a:solidFill>
              <a:srgbClr val="3A3A3A"/>
            </a:solidFill>
            <a:prstDash val="solid"/>
          </a:ln>
        </p:spPr>
      </p:sp>
      <p:sp>
        <p:nvSpPr>
          <p:cNvPr id="6" name="Text 4"/>
          <p:cNvSpPr/>
          <p:nvPr/>
        </p:nvSpPr>
        <p:spPr>
          <a:xfrm>
            <a:off x="822960" y="3611880"/>
            <a:ext cx="7315200" cy="2286000"/>
          </a:xfrm>
          <a:prstGeom prst="rect">
            <a:avLst/>
          </a:prstGeom>
          <a:noFill/>
          <a:ln/>
        </p:spPr>
        <p:txBody>
          <a:bodyPr wrap="square" rtlCol="0" anchor="ctr"/>
          <a:lstStyle/>
          <a:p>
            <a:pPr indent="0" marL="0">
              <a:lnSpc>
                <a:spcPct val="150000"/>
              </a:lnSpc>
              <a:buNone/>
            </a:pPr>
            <a:r>
              <a:rPr lang="en-US" sz="1800" b="1" dirty="0">
                <a:solidFill>
                  <a:srgbClr val="FFFFFF"/>
                </a:solidFill>
                <a:latin typeface="Calibri" pitchFamily="34" charset="0"/>
                <a:ea typeface="Calibri" pitchFamily="34" charset="-122"/>
                <a:cs typeface="Calibri" pitchFamily="34" charset="-120"/>
              </a:rPr>
              <a:t>Sameh Sabry El-Hosary
</a:t>
            </a:r>
            <a:pPr indent="0" marL="0">
              <a:lnSpc>
                <a:spcPct val="150000"/>
              </a:lnSpc>
              <a:buNone/>
            </a:pPr>
            <a:r>
              <a:rPr lang="en-US" sz="1300" dirty="0">
                <a:solidFill>
                  <a:srgbClr val="B5B5B5"/>
                </a:solidFill>
                <a:latin typeface="Calibri" pitchFamily="34" charset="0"/>
                <a:ea typeface="Calibri" pitchFamily="34" charset="-122"/>
                <a:cs typeface="Calibri" pitchFamily="34" charset="-120"/>
              </a:rPr>
              <a:t>Data Analyst | Business Intelligence Analyst
</a:t>
            </a:r>
            <a:pPr indent="0" marL="0">
              <a:lnSpc>
                <a:spcPct val="150000"/>
              </a:lnSpc>
              <a:buNone/>
            </a:pPr>
            <a:r>
              <a:rPr lang="en-US" sz="1300" dirty="0">
                <a:solidFill>
                  <a:srgbClr val="9A9A9A"/>
                </a:solidFill>
                <a:latin typeface="Calibri" pitchFamily="34" charset="0"/>
                <a:ea typeface="Calibri" pitchFamily="34" charset="-122"/>
                <a:cs typeface="Calibri" pitchFamily="34" charset="-120"/>
              </a:rPr>
              <a:t>Portfolio: </a:t>
            </a:r>
            <a:pPr indent="0" marL="0">
              <a:lnSpc>
                <a:spcPct val="150000"/>
              </a:lnSpc>
              <a:buNone/>
            </a:pPr>
            <a:r>
              <a:rPr lang="en-US" sz="1300" dirty="0">
                <a:solidFill>
                  <a:srgbClr val="F68B1E"/>
                </a:solidFill>
                <a:latin typeface="Calibri" pitchFamily="34" charset="0"/>
                <a:ea typeface="Calibri" pitchFamily="34" charset="-122"/>
                <a:cs typeface="Calibri" pitchFamily="34" charset="-120"/>
              </a:rPr>
              <a:t>[ضيف رابط البورتفوليو هنا]
</a:t>
            </a:r>
            <a:pPr indent="0" marL="0">
              <a:lnSpc>
                <a:spcPct val="150000"/>
              </a:lnSpc>
              <a:buNone/>
            </a:pPr>
            <a:r>
              <a:rPr lang="en-US" sz="1300" dirty="0">
                <a:solidFill>
                  <a:srgbClr val="9A9A9A"/>
                </a:solidFill>
                <a:latin typeface="Calibri" pitchFamily="34" charset="0"/>
                <a:ea typeface="Calibri" pitchFamily="34" charset="-122"/>
                <a:cs typeface="Calibri" pitchFamily="34" charset="-120"/>
              </a:rPr>
              <a:t>GitHub: </a:t>
            </a:r>
            <a:pPr indent="0" marL="0">
              <a:lnSpc>
                <a:spcPct val="150000"/>
              </a:lnSpc>
              <a:buNone/>
            </a:pPr>
            <a:r>
              <a:rPr lang="en-US" sz="1300" dirty="0">
                <a:solidFill>
                  <a:srgbClr val="F68B1E"/>
                </a:solidFill>
                <a:latin typeface="Calibri" pitchFamily="34" charset="0"/>
                <a:ea typeface="Calibri" pitchFamily="34" charset="-122"/>
                <a:cs typeface="Calibri" pitchFamily="34" charset="-120"/>
              </a:rPr>
              <a:t>[ضيف رابط GitHub هنا]
</a:t>
            </a:r>
            <a:pPr indent="0" marL="0">
              <a:lnSpc>
                <a:spcPct val="150000"/>
              </a:lnSpc>
              <a:buNone/>
            </a:pPr>
            <a:r>
              <a:rPr lang="en-US" sz="1300" dirty="0">
                <a:solidFill>
                  <a:srgbClr val="9A9A9A"/>
                </a:solidFill>
                <a:latin typeface="Calibri" pitchFamily="34" charset="0"/>
                <a:ea typeface="Calibri" pitchFamily="34" charset="-122"/>
                <a:cs typeface="Calibri" pitchFamily="34" charset="-120"/>
              </a:rPr>
              <a:t>LinkedIn: </a:t>
            </a:r>
            <a:pPr indent="0" marL="0">
              <a:lnSpc>
                <a:spcPct val="150000"/>
              </a:lnSpc>
              <a:buNone/>
            </a:pPr>
            <a:r>
              <a:rPr lang="en-US" sz="1300" dirty="0">
                <a:solidFill>
                  <a:srgbClr val="F68B1E"/>
                </a:solidFill>
                <a:latin typeface="Calibri" pitchFamily="34" charset="0"/>
                <a:ea typeface="Calibri" pitchFamily="34" charset="-122"/>
                <a:cs typeface="Calibri" pitchFamily="34" charset="-120"/>
              </a:rPr>
              <a:t>[ضيف رابط LinkedIn هنا]</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2026-07-18T03:30:36Z</dcterms:created>
  <dcterms:modified xsi:type="dcterms:W3CDTF">2026-07-18T03:30:36Z</dcterms:modified>
</cp:coreProperties>
</file>